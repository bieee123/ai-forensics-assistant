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 we're Team Eight, and this is the Agentic AI Digital Forensics Assistant, built for LTI over the past few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 developer on call at 2 AM. An alert fires. They SSH in, see hundreds of log lines, and have no idea what's real. That's not hypothetical — that was LTI's actual workflow. Reading one log file could take two to four hours for someone without forensic training, and if it needed escalation, that added another four to eight hours of waiting — while whatever was happening kept happening. That gap is what we built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built the Digital Forensics Assistant — DFA. Upload a log, or pull one remotely over SSH, and in under two minutes you get a plain-English report: what happened, which IPs were involved, and a timeline you can hand to a specialist or straight to a client. And critically — the AI doing that analysis runs on LTI's own hardware. We'll come back to why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about this aren't just nice-to-have — they're genuinely uncommon. Most AI security tools phone home to an external API; ours never leaves the building. Most AI summaries are just summaries; ours are hashed and chain-of-custody-tracked the moment they're generated, so they hold up as evidence. And because we use retrieval-augmented generation against past incidents, the system effectively builds institutional memory over time — without ever retraining the underlying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upload triggers parsing into structured events, Llama 3 — running locally — analyzes them, cross-references similar past incidents through a vector database, and writes the report. Thirty seconds to two minutes, start to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technical side of the room: Next.js frontend, FastAPI backend, Llama 3 through Ollama, ChromaDB for retrieval, PostgreSQL for storage, all on a single sixteen-core, sixteen gigabyte server, kept alive with PM2. Every piece here is open-source — nothing proprietary, nothing that requires a license LTI doesn't already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LTI's hard requirement, and it's not a checkbox — it's architectural. There's no code path where log data leaves this server. The AI runs right here, the database lives right here, and nothing crosses out to the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together, this changes who can respond and how fast. A developer who used to be stuck for hours can get a clear answer in under two minutes, most incidents stop needing to wait on a specialist at all, every report comes out the same structured way, and none of it ever leaves LTI's own servers.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 finished product — it's a working prototype with a clear path forward. Before this goes into real production use at LTI, our roadmap is multi-tenant support, more log formats, formal accuracy benchmarking so we can quote real numbers instead of estimates, and role-based access control for audit purposes.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Rather than walk you through more slides, let's just show you. Everything you're about to see is running live, on LTI's own server. [switch to live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honest takeaways: getting useful output from the AI took real iteration — early versions were generic until we restructured how we fed it data, not just how we prompted it. Running everything locally also meant compute was a real constraint we had to design around, not something we could scale away. And building for an actual client with a hard security requirement shaped almost every decision we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our presentation. We'd like to thank our lecturers for their guidance, LTI for giving us this real-world opportunity, and all of you for listening. We're now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4"/>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0151F"/>
          </a:solidFill>
          <a:ln/>
        </p:spPr>
      </p:sp>
      <p:sp>
        <p:nvSpPr>
          <p:cNvPr id="3" name="Shape 1"/>
          <p:cNvSpPr/>
          <p:nvPr/>
        </p:nvSpPr>
        <p:spPr>
          <a:xfrm>
            <a:off x="4206240" y="0"/>
            <a:ext cx="18288" cy="6858000"/>
          </a:xfrm>
          <a:prstGeom prst="rect">
            <a:avLst/>
          </a:prstGeom>
          <a:solidFill>
            <a:srgbClr val="232B3A"/>
          </a:solidFill>
          <a:ln/>
        </p:spPr>
      </p:sp>
      <p:pic>
        <p:nvPicPr>
          <p:cNvPr id="4" name="Image 0" descr="/home/claude/aadfa_deck_v2/icons/fingerprint.png">    </p:cNvPr>
          <p:cNvPicPr>
            <a:picLocks noChangeAspect="1"/>
          </p:cNvPicPr>
          <p:nvPr/>
        </p:nvPicPr>
        <p:blipFill>
          <a:blip r:embed="rId1"/>
          <a:stretch>
            <a:fillRect/>
          </a:stretch>
        </p:blipFill>
        <p:spPr>
          <a:xfrm>
            <a:off x="685800" y="685800"/>
            <a:ext cx="548640" cy="548640"/>
          </a:xfrm>
          <a:prstGeom prst="rect">
            <a:avLst/>
          </a:prstGeom>
        </p:spPr>
      </p:pic>
      <p:sp>
        <p:nvSpPr>
          <p:cNvPr id="5" name="Text 2"/>
          <p:cNvSpPr/>
          <p:nvPr/>
        </p:nvSpPr>
        <p:spPr>
          <a:xfrm>
            <a:off x="685800" y="1371600"/>
            <a:ext cx="3108960" cy="365760"/>
          </a:xfrm>
          <a:prstGeom prst="rect">
            <a:avLst/>
          </a:prstGeom>
          <a:noFill/>
          <a:ln/>
        </p:spPr>
        <p:txBody>
          <a:bodyPr wrap="square" rtlCol="0" anchor="ctr"/>
          <a:lstStyle/>
          <a:p>
            <a:pPr indent="0" marL="0">
              <a:buNone/>
            </a:pPr>
            <a:r>
              <a:rPr lang="en-US" sz="1200" b="1" spc="150" kern="0" dirty="0">
                <a:solidFill>
                  <a:srgbClr val="22D3EE"/>
                </a:solidFill>
                <a:latin typeface="Consolas" pitchFamily="34" charset="0"/>
                <a:ea typeface="Consolas" pitchFamily="34" charset="-122"/>
                <a:cs typeface="Consolas" pitchFamily="34" charset="-120"/>
              </a:rPr>
              <a:t>TEAM EIGHT — GROUP 8</a:t>
            </a:r>
            <a:endParaRPr lang="en-US" sz="1200" dirty="0"/>
          </a:p>
        </p:txBody>
      </p:sp>
      <p:sp>
        <p:nvSpPr>
          <p:cNvPr id="6" name="Text 3"/>
          <p:cNvSpPr/>
          <p:nvPr/>
        </p:nvSpPr>
        <p:spPr>
          <a:xfrm>
            <a:off x="685800" y="1828800"/>
            <a:ext cx="3291840" cy="2377440"/>
          </a:xfrm>
          <a:prstGeom prst="rect">
            <a:avLst/>
          </a:prstGeom>
          <a:noFill/>
          <a:ln/>
        </p:spPr>
        <p:txBody>
          <a:bodyPr wrap="square" rtlCol="0" anchor="ctr"/>
          <a:lstStyle/>
          <a:p>
            <a:pPr indent="0" marL="0">
              <a:lnSpc>
                <a:spcPct val="105000"/>
              </a:lnSpc>
              <a:buNone/>
            </a:pPr>
            <a:r>
              <a:rPr lang="en-US" sz="3000" b="1" dirty="0">
                <a:solidFill>
                  <a:srgbClr val="F1F5F9"/>
                </a:solidFill>
                <a:latin typeface="Arial" pitchFamily="34" charset="0"/>
                <a:ea typeface="Arial" pitchFamily="34" charset="-122"/>
                <a:cs typeface="Arial" pitchFamily="34" charset="-120"/>
              </a:rPr>
              <a:t>Agentic AI</a:t>
            </a:r>
            <a:endParaRPr lang="en-US" sz="3000" dirty="0"/>
          </a:p>
          <a:p>
            <a:pPr indent="0" marL="0">
              <a:lnSpc>
                <a:spcPct val="105000"/>
              </a:lnSpc>
              <a:buNone/>
            </a:pPr>
            <a:r>
              <a:rPr lang="en-US" sz="3000" b="1" dirty="0">
                <a:solidFill>
                  <a:srgbClr val="F1F5F9"/>
                </a:solidFill>
                <a:latin typeface="Arial" pitchFamily="34" charset="0"/>
                <a:ea typeface="Arial" pitchFamily="34" charset="-122"/>
                <a:cs typeface="Arial" pitchFamily="34" charset="-120"/>
              </a:rPr>
              <a:t>Digital Forensics</a:t>
            </a:r>
            <a:endParaRPr lang="en-US" sz="3000" dirty="0"/>
          </a:p>
          <a:p>
            <a:pPr indent="0" marL="0">
              <a:lnSpc>
                <a:spcPct val="105000"/>
              </a:lnSpc>
              <a:buNone/>
            </a:pPr>
            <a:r>
              <a:rPr lang="en-US" sz="3000" b="1" dirty="0">
                <a:solidFill>
                  <a:srgbClr val="F1F5F9"/>
                </a:solidFill>
                <a:latin typeface="Arial" pitchFamily="34" charset="0"/>
                <a:ea typeface="Arial" pitchFamily="34" charset="-122"/>
                <a:cs typeface="Arial" pitchFamily="34" charset="-120"/>
              </a:rPr>
              <a:t>Assistant</a:t>
            </a:r>
            <a:endParaRPr lang="en-US" sz="3000" dirty="0"/>
          </a:p>
        </p:txBody>
      </p:sp>
      <p:sp>
        <p:nvSpPr>
          <p:cNvPr id="7" name="Text 4"/>
          <p:cNvSpPr/>
          <p:nvPr/>
        </p:nvSpPr>
        <p:spPr>
          <a:xfrm>
            <a:off x="685800" y="4343400"/>
            <a:ext cx="3291840" cy="365760"/>
          </a:xfrm>
          <a:prstGeom prst="rect">
            <a:avLst/>
          </a:prstGeom>
          <a:noFill/>
          <a:ln/>
        </p:spPr>
        <p:txBody>
          <a:bodyPr wrap="square" rtlCol="0" anchor="ctr"/>
          <a:lstStyle/>
          <a:p>
            <a:pPr indent="0" marL="0">
              <a:buNone/>
            </a:pPr>
            <a:r>
              <a:rPr lang="en-US" sz="1400" dirty="0">
                <a:solidFill>
                  <a:srgbClr val="94A3B8"/>
                </a:solidFill>
                <a:latin typeface="Arial" pitchFamily="34" charset="0"/>
                <a:ea typeface="Arial" pitchFamily="34" charset="-122"/>
                <a:cs typeface="Arial" pitchFamily="34" charset="-120"/>
              </a:rPr>
              <a:t>Final Project Presentation</a:t>
            </a:r>
            <a:endParaRPr lang="en-US" sz="1400" dirty="0"/>
          </a:p>
        </p:txBody>
      </p:sp>
      <p:sp>
        <p:nvSpPr>
          <p:cNvPr id="8" name="Shape 5"/>
          <p:cNvSpPr/>
          <p:nvPr/>
        </p:nvSpPr>
        <p:spPr>
          <a:xfrm>
            <a:off x="685800" y="4892040"/>
            <a:ext cx="1828800" cy="0"/>
          </a:xfrm>
          <a:prstGeom prst="line">
            <a:avLst/>
          </a:prstGeom>
          <a:noFill/>
          <a:ln w="12700">
            <a:solidFill>
              <a:srgbClr val="232B3A"/>
            </a:solidFill>
            <a:prstDash val="solid"/>
          </a:ln>
        </p:spPr>
      </p:sp>
      <p:sp>
        <p:nvSpPr>
          <p:cNvPr id="9" name="Text 6"/>
          <p:cNvSpPr/>
          <p:nvPr/>
        </p:nvSpPr>
        <p:spPr>
          <a:xfrm>
            <a:off x="685800" y="5074920"/>
            <a:ext cx="3291840" cy="1005840"/>
          </a:xfrm>
          <a:prstGeom prst="rect">
            <a:avLst/>
          </a:prstGeom>
          <a:noFill/>
          <a:ln/>
        </p:spPr>
        <p:txBody>
          <a:bodyPr wrap="square" rtlCol="0" anchor="ctr"/>
          <a:lstStyle/>
          <a:p>
            <a:pPr indent="0" marL="0">
              <a:lnSpc>
                <a:spcPct val="130000"/>
              </a:lnSpc>
              <a:buNone/>
            </a:pPr>
            <a:r>
              <a:rPr lang="en-US" sz="1100" dirty="0">
                <a:solidFill>
                  <a:srgbClr val="94A3B8"/>
                </a:solidFill>
                <a:latin typeface="Arial" pitchFamily="34" charset="0"/>
                <a:ea typeface="Arial" pitchFamily="34" charset="-122"/>
                <a:cs typeface="Arial" pitchFamily="34" charset="-120"/>
              </a:rPr>
              <a:t>Client: LTI (PT Teknologi Nasional Indonesia Siber)</a:t>
            </a:r>
            <a:endParaRPr lang="en-US" sz="1100" dirty="0"/>
          </a:p>
          <a:p>
            <a:pPr indent="0" marL="0">
              <a:lnSpc>
                <a:spcPct val="130000"/>
              </a:lnSpc>
              <a:buNone/>
            </a:pPr>
            <a:r>
              <a:rPr lang="en-US" sz="1100" dirty="0">
                <a:solidFill>
                  <a:srgbClr val="94A3B8"/>
                </a:solidFill>
                <a:latin typeface="Arial" pitchFamily="34" charset="0"/>
                <a:ea typeface="Arial" pitchFamily="34" charset="-122"/>
                <a:cs typeface="Arial" pitchFamily="34" charset="-120"/>
              </a:rPr>
              <a:t>University: President University</a:t>
            </a:r>
            <a:endParaRPr lang="en-US" sz="1100" dirty="0"/>
          </a:p>
          <a:p>
            <a:pPr indent="0" marL="0">
              <a:lnSpc>
                <a:spcPct val="130000"/>
              </a:lnSpc>
              <a:buNone/>
            </a:pPr>
            <a:r>
              <a:rPr lang="en-US" sz="1100" dirty="0">
                <a:solidFill>
                  <a:srgbClr val="94A3B8"/>
                </a:solidFill>
                <a:latin typeface="Arial" pitchFamily="34" charset="0"/>
                <a:ea typeface="Arial" pitchFamily="34" charset="-122"/>
                <a:cs typeface="Arial" pitchFamily="34" charset="-120"/>
              </a:rPr>
              <a:t>Duration: 1–4 Weeks</a:t>
            </a:r>
            <a:endParaRPr lang="en-US" sz="1100" dirty="0"/>
          </a:p>
        </p:txBody>
      </p:sp>
      <p:sp>
        <p:nvSpPr>
          <p:cNvPr id="10" name="Text 7"/>
          <p:cNvSpPr/>
          <p:nvPr/>
        </p:nvSpPr>
        <p:spPr>
          <a:xfrm>
            <a:off x="4617720" y="640080"/>
            <a:ext cx="6858000" cy="320040"/>
          </a:xfrm>
          <a:prstGeom prst="rect">
            <a:avLst/>
          </a:prstGeom>
          <a:noFill/>
          <a:ln/>
        </p:spPr>
        <p:txBody>
          <a:bodyPr wrap="square" rtlCol="0" anchor="ctr"/>
          <a:lstStyle/>
          <a:p>
            <a:pPr indent="0" marL="0">
              <a:buNone/>
            </a:pPr>
            <a:r>
              <a:rPr lang="en-US" sz="1100" b="1" spc="200" kern="0" dirty="0">
                <a:solidFill>
                  <a:srgbClr val="5B6576"/>
                </a:solidFill>
                <a:latin typeface="Consolas" pitchFamily="34" charset="0"/>
                <a:ea typeface="Consolas" pitchFamily="34" charset="-122"/>
                <a:cs typeface="Consolas" pitchFamily="34" charset="-120"/>
              </a:rPr>
              <a:t>PROJECT TEAM</a:t>
            </a:r>
            <a:endParaRPr lang="en-US" sz="1100" dirty="0"/>
          </a:p>
        </p:txBody>
      </p:sp>
      <p:sp>
        <p:nvSpPr>
          <p:cNvPr id="11" name="Shape 8"/>
          <p:cNvSpPr/>
          <p:nvPr/>
        </p:nvSpPr>
        <p:spPr>
          <a:xfrm>
            <a:off x="4617720" y="1097280"/>
            <a:ext cx="6903720" cy="886968"/>
          </a:xfrm>
          <a:prstGeom prst="roundRect">
            <a:avLst>
              <a:gd name="adj" fmla="val 8247"/>
            </a:avLst>
          </a:prstGeom>
          <a:solidFill>
            <a:srgbClr val="10151F"/>
          </a:solidFill>
          <a:ln w="12700">
            <a:solidFill>
              <a:srgbClr val="232B3A"/>
            </a:solidFill>
            <a:prstDash val="solid"/>
          </a:ln>
        </p:spPr>
      </p:sp>
      <p:sp>
        <p:nvSpPr>
          <p:cNvPr id="12" name="Text 9"/>
          <p:cNvSpPr/>
          <p:nvPr/>
        </p:nvSpPr>
        <p:spPr>
          <a:xfrm>
            <a:off x="4846320" y="1170432"/>
            <a:ext cx="6492240" cy="365760"/>
          </a:xfrm>
          <a:prstGeom prst="rect">
            <a:avLst/>
          </a:prstGeom>
          <a:noFill/>
          <a:ln/>
        </p:spPr>
        <p:txBody>
          <a:bodyPr wrap="square" rtlCol="0" anchor="ctr"/>
          <a:lstStyle/>
          <a:p>
            <a:pPr indent="0" marL="0">
              <a:buNone/>
            </a:pPr>
            <a:r>
              <a:rPr lang="en-US" sz="1450" b="1" dirty="0">
                <a:solidFill>
                  <a:srgbClr val="F1F5F9"/>
                </a:solidFill>
                <a:latin typeface="Arial" pitchFamily="34" charset="0"/>
                <a:ea typeface="Arial" pitchFamily="34" charset="-122"/>
                <a:cs typeface="Arial" pitchFamily="34" charset="-120"/>
              </a:rPr>
              <a:t>Gabrielle Briliant Lintong</a:t>
            </a:r>
            <a:endParaRPr lang="en-US" sz="1450" dirty="0"/>
          </a:p>
        </p:txBody>
      </p:sp>
      <p:sp>
        <p:nvSpPr>
          <p:cNvPr id="13" name="Text 10"/>
          <p:cNvSpPr/>
          <p:nvPr/>
        </p:nvSpPr>
        <p:spPr>
          <a:xfrm>
            <a:off x="4846320" y="1554480"/>
            <a:ext cx="6492240" cy="365760"/>
          </a:xfrm>
          <a:prstGeom prst="rect">
            <a:avLst/>
          </a:prstGeom>
          <a:noFill/>
          <a:ln/>
        </p:spPr>
        <p:txBody>
          <a:bodyPr wrap="square" rtlCol="0" anchor="ctr"/>
          <a:lstStyle/>
          <a:p>
            <a:pPr indent="0" marL="0">
              <a:buNone/>
            </a:pPr>
            <a:r>
              <a:rPr lang="en-US" sz="1100" i="1" dirty="0">
                <a:solidFill>
                  <a:srgbClr val="94A3B8"/>
                </a:solidFill>
                <a:latin typeface="Arial" pitchFamily="34" charset="0"/>
                <a:ea typeface="Arial" pitchFamily="34" charset="-122"/>
                <a:cs typeface="Arial" pitchFamily="34" charset="-120"/>
              </a:rPr>
              <a:t>Project Manager &amp; Scrum Master / Tech Lead</a:t>
            </a:r>
            <a:endParaRPr lang="en-US" sz="1100" dirty="0"/>
          </a:p>
        </p:txBody>
      </p:sp>
      <p:sp>
        <p:nvSpPr>
          <p:cNvPr id="14" name="Shape 11"/>
          <p:cNvSpPr/>
          <p:nvPr/>
        </p:nvSpPr>
        <p:spPr>
          <a:xfrm>
            <a:off x="4617720" y="2121408"/>
            <a:ext cx="6903720" cy="886968"/>
          </a:xfrm>
          <a:prstGeom prst="roundRect">
            <a:avLst>
              <a:gd name="adj" fmla="val 8247"/>
            </a:avLst>
          </a:prstGeom>
          <a:solidFill>
            <a:srgbClr val="10151F"/>
          </a:solidFill>
          <a:ln w="12700">
            <a:solidFill>
              <a:srgbClr val="232B3A"/>
            </a:solidFill>
            <a:prstDash val="solid"/>
          </a:ln>
        </p:spPr>
      </p:sp>
      <p:sp>
        <p:nvSpPr>
          <p:cNvPr id="15" name="Text 12"/>
          <p:cNvSpPr/>
          <p:nvPr/>
        </p:nvSpPr>
        <p:spPr>
          <a:xfrm>
            <a:off x="4846320" y="2194560"/>
            <a:ext cx="6492240" cy="365760"/>
          </a:xfrm>
          <a:prstGeom prst="rect">
            <a:avLst/>
          </a:prstGeom>
          <a:noFill/>
          <a:ln/>
        </p:spPr>
        <p:txBody>
          <a:bodyPr wrap="square" rtlCol="0" anchor="ctr"/>
          <a:lstStyle/>
          <a:p>
            <a:pPr indent="0" marL="0">
              <a:buNone/>
            </a:pPr>
            <a:r>
              <a:rPr lang="en-US" sz="1450" b="1" dirty="0">
                <a:solidFill>
                  <a:srgbClr val="F1F5F9"/>
                </a:solidFill>
                <a:latin typeface="Arial" pitchFamily="34" charset="0"/>
                <a:ea typeface="Arial" pitchFamily="34" charset="-122"/>
                <a:cs typeface="Arial" pitchFamily="34" charset="-120"/>
              </a:rPr>
              <a:t>Monique Emilia Tumewu</a:t>
            </a:r>
            <a:endParaRPr lang="en-US" sz="1450" dirty="0"/>
          </a:p>
        </p:txBody>
      </p:sp>
      <p:sp>
        <p:nvSpPr>
          <p:cNvPr id="16" name="Text 13"/>
          <p:cNvSpPr/>
          <p:nvPr/>
        </p:nvSpPr>
        <p:spPr>
          <a:xfrm>
            <a:off x="4846320" y="2578608"/>
            <a:ext cx="6492240" cy="365760"/>
          </a:xfrm>
          <a:prstGeom prst="rect">
            <a:avLst/>
          </a:prstGeom>
          <a:noFill/>
          <a:ln/>
        </p:spPr>
        <p:txBody>
          <a:bodyPr wrap="square" rtlCol="0" anchor="ctr"/>
          <a:lstStyle/>
          <a:p>
            <a:pPr indent="0" marL="0">
              <a:buNone/>
            </a:pPr>
            <a:r>
              <a:rPr lang="en-US" sz="1100" i="1" dirty="0">
                <a:solidFill>
                  <a:srgbClr val="94A3B8"/>
                </a:solidFill>
                <a:latin typeface="Arial" pitchFamily="34" charset="0"/>
                <a:ea typeface="Arial" pitchFamily="34" charset="-122"/>
                <a:cs typeface="Arial" pitchFamily="34" charset="-120"/>
              </a:rPr>
              <a:t>UI/UX Designer &amp; Frontend Engineer / Product Owner</a:t>
            </a:r>
            <a:endParaRPr lang="en-US" sz="1100" dirty="0"/>
          </a:p>
        </p:txBody>
      </p:sp>
      <p:sp>
        <p:nvSpPr>
          <p:cNvPr id="17" name="Shape 14"/>
          <p:cNvSpPr/>
          <p:nvPr/>
        </p:nvSpPr>
        <p:spPr>
          <a:xfrm>
            <a:off x="4617720" y="3145536"/>
            <a:ext cx="6903720" cy="886968"/>
          </a:xfrm>
          <a:prstGeom prst="roundRect">
            <a:avLst>
              <a:gd name="adj" fmla="val 8247"/>
            </a:avLst>
          </a:prstGeom>
          <a:solidFill>
            <a:srgbClr val="10151F"/>
          </a:solidFill>
          <a:ln w="12700">
            <a:solidFill>
              <a:srgbClr val="232B3A"/>
            </a:solidFill>
            <a:prstDash val="solid"/>
          </a:ln>
        </p:spPr>
      </p:sp>
      <p:sp>
        <p:nvSpPr>
          <p:cNvPr id="18" name="Text 15"/>
          <p:cNvSpPr/>
          <p:nvPr/>
        </p:nvSpPr>
        <p:spPr>
          <a:xfrm>
            <a:off x="4846320" y="3218688"/>
            <a:ext cx="6492240" cy="365760"/>
          </a:xfrm>
          <a:prstGeom prst="rect">
            <a:avLst/>
          </a:prstGeom>
          <a:noFill/>
          <a:ln/>
        </p:spPr>
        <p:txBody>
          <a:bodyPr wrap="square" rtlCol="0" anchor="ctr"/>
          <a:lstStyle/>
          <a:p>
            <a:pPr indent="0" marL="0">
              <a:buNone/>
            </a:pPr>
            <a:r>
              <a:rPr lang="en-US" sz="1450" b="1" dirty="0">
                <a:solidFill>
                  <a:srgbClr val="F1F5F9"/>
                </a:solidFill>
                <a:latin typeface="Arial" pitchFamily="34" charset="0"/>
                <a:ea typeface="Arial" pitchFamily="34" charset="-122"/>
                <a:cs typeface="Arial" pitchFamily="34" charset="-120"/>
              </a:rPr>
              <a:t>Blessya Ginza Stevani Mondoringin</a:t>
            </a:r>
            <a:endParaRPr lang="en-US" sz="1450" dirty="0"/>
          </a:p>
        </p:txBody>
      </p:sp>
      <p:sp>
        <p:nvSpPr>
          <p:cNvPr id="19" name="Text 16"/>
          <p:cNvSpPr/>
          <p:nvPr/>
        </p:nvSpPr>
        <p:spPr>
          <a:xfrm>
            <a:off x="4846320" y="3602736"/>
            <a:ext cx="6492240" cy="365760"/>
          </a:xfrm>
          <a:prstGeom prst="rect">
            <a:avLst/>
          </a:prstGeom>
          <a:noFill/>
          <a:ln/>
        </p:spPr>
        <p:txBody>
          <a:bodyPr wrap="square" rtlCol="0" anchor="ctr"/>
          <a:lstStyle/>
          <a:p>
            <a:pPr indent="0" marL="0">
              <a:buNone/>
            </a:pPr>
            <a:r>
              <a:rPr lang="en-US" sz="1100" i="1" dirty="0">
                <a:solidFill>
                  <a:srgbClr val="94A3B8"/>
                </a:solidFill>
                <a:latin typeface="Arial" pitchFamily="34" charset="0"/>
                <a:ea typeface="Arial" pitchFamily="34" charset="-122"/>
                <a:cs typeface="Arial" pitchFamily="34" charset="-120"/>
              </a:rPr>
              <a:t>UI/UX Designer &amp; Frontend Engineer / QA Engineer</a:t>
            </a:r>
            <a:endParaRPr lang="en-US" sz="1100" dirty="0"/>
          </a:p>
        </p:txBody>
      </p:sp>
      <p:sp>
        <p:nvSpPr>
          <p:cNvPr id="20" name="Shape 17"/>
          <p:cNvSpPr/>
          <p:nvPr/>
        </p:nvSpPr>
        <p:spPr>
          <a:xfrm>
            <a:off x="4617720" y="4169664"/>
            <a:ext cx="6903720" cy="886968"/>
          </a:xfrm>
          <a:prstGeom prst="roundRect">
            <a:avLst>
              <a:gd name="adj" fmla="val 8247"/>
            </a:avLst>
          </a:prstGeom>
          <a:solidFill>
            <a:srgbClr val="10151F"/>
          </a:solidFill>
          <a:ln w="12700">
            <a:solidFill>
              <a:srgbClr val="232B3A"/>
            </a:solidFill>
            <a:prstDash val="solid"/>
          </a:ln>
        </p:spPr>
      </p:sp>
      <p:sp>
        <p:nvSpPr>
          <p:cNvPr id="21" name="Text 18"/>
          <p:cNvSpPr/>
          <p:nvPr/>
        </p:nvSpPr>
        <p:spPr>
          <a:xfrm>
            <a:off x="4846320" y="4242816"/>
            <a:ext cx="6492240" cy="365760"/>
          </a:xfrm>
          <a:prstGeom prst="rect">
            <a:avLst/>
          </a:prstGeom>
          <a:noFill/>
          <a:ln/>
        </p:spPr>
        <p:txBody>
          <a:bodyPr wrap="square" rtlCol="0" anchor="ctr"/>
          <a:lstStyle/>
          <a:p>
            <a:pPr indent="0" marL="0">
              <a:buNone/>
            </a:pPr>
            <a:r>
              <a:rPr lang="en-US" sz="1450" b="1" dirty="0">
                <a:solidFill>
                  <a:srgbClr val="F1F5F9"/>
                </a:solidFill>
                <a:latin typeface="Arial" pitchFamily="34" charset="0"/>
                <a:ea typeface="Arial" pitchFamily="34" charset="-122"/>
                <a:cs typeface="Arial" pitchFamily="34" charset="-120"/>
              </a:rPr>
              <a:t>Rafa Basia Hanif</a:t>
            </a:r>
            <a:endParaRPr lang="en-US" sz="1450" dirty="0"/>
          </a:p>
        </p:txBody>
      </p:sp>
      <p:sp>
        <p:nvSpPr>
          <p:cNvPr id="22" name="Text 19"/>
          <p:cNvSpPr/>
          <p:nvPr/>
        </p:nvSpPr>
        <p:spPr>
          <a:xfrm>
            <a:off x="4846320" y="4626864"/>
            <a:ext cx="6492240" cy="365760"/>
          </a:xfrm>
          <a:prstGeom prst="rect">
            <a:avLst/>
          </a:prstGeom>
          <a:noFill/>
          <a:ln/>
        </p:spPr>
        <p:txBody>
          <a:bodyPr wrap="square" rtlCol="0" anchor="ctr"/>
          <a:lstStyle/>
          <a:p>
            <a:pPr indent="0" marL="0">
              <a:buNone/>
            </a:pPr>
            <a:r>
              <a:rPr lang="en-US" sz="1100" i="1" dirty="0">
                <a:solidFill>
                  <a:srgbClr val="94A3B8"/>
                </a:solidFill>
                <a:latin typeface="Arial" pitchFamily="34" charset="0"/>
                <a:ea typeface="Arial" pitchFamily="34" charset="-122"/>
                <a:cs typeface="Arial" pitchFamily="34" charset="-120"/>
              </a:rPr>
              <a:t>AI Engineer &amp; Backend Developer / Digital Forensics Analyst</a:t>
            </a:r>
            <a:endParaRPr lang="en-US" sz="1100" dirty="0"/>
          </a:p>
        </p:txBody>
      </p:sp>
      <p:sp>
        <p:nvSpPr>
          <p:cNvPr id="23" name="Shape 20"/>
          <p:cNvSpPr/>
          <p:nvPr/>
        </p:nvSpPr>
        <p:spPr>
          <a:xfrm>
            <a:off x="4617720" y="5193792"/>
            <a:ext cx="6903720" cy="886968"/>
          </a:xfrm>
          <a:prstGeom prst="roundRect">
            <a:avLst>
              <a:gd name="adj" fmla="val 8247"/>
            </a:avLst>
          </a:prstGeom>
          <a:solidFill>
            <a:srgbClr val="10151F"/>
          </a:solidFill>
          <a:ln w="12700">
            <a:solidFill>
              <a:srgbClr val="232B3A"/>
            </a:solidFill>
            <a:prstDash val="solid"/>
          </a:ln>
        </p:spPr>
      </p:sp>
      <p:sp>
        <p:nvSpPr>
          <p:cNvPr id="24" name="Text 21"/>
          <p:cNvSpPr/>
          <p:nvPr/>
        </p:nvSpPr>
        <p:spPr>
          <a:xfrm>
            <a:off x="4846320" y="5266944"/>
            <a:ext cx="6492240" cy="365760"/>
          </a:xfrm>
          <a:prstGeom prst="rect">
            <a:avLst/>
          </a:prstGeom>
          <a:noFill/>
          <a:ln/>
        </p:spPr>
        <p:txBody>
          <a:bodyPr wrap="square" rtlCol="0" anchor="ctr"/>
          <a:lstStyle/>
          <a:p>
            <a:pPr indent="0" marL="0">
              <a:buNone/>
            </a:pPr>
            <a:r>
              <a:rPr lang="en-US" sz="1450" b="1" dirty="0">
                <a:solidFill>
                  <a:srgbClr val="F1F5F9"/>
                </a:solidFill>
                <a:latin typeface="Arial" pitchFamily="34" charset="0"/>
                <a:ea typeface="Arial" pitchFamily="34" charset="-122"/>
                <a:cs typeface="Arial" pitchFamily="34" charset="-120"/>
              </a:rPr>
              <a:t>Muhammad Naufal Hadi Mulyana</a:t>
            </a:r>
            <a:endParaRPr lang="en-US" sz="1450" dirty="0"/>
          </a:p>
        </p:txBody>
      </p:sp>
      <p:sp>
        <p:nvSpPr>
          <p:cNvPr id="25" name="Text 22"/>
          <p:cNvSpPr/>
          <p:nvPr/>
        </p:nvSpPr>
        <p:spPr>
          <a:xfrm>
            <a:off x="4846320" y="5650992"/>
            <a:ext cx="6492240" cy="365760"/>
          </a:xfrm>
          <a:prstGeom prst="rect">
            <a:avLst/>
          </a:prstGeom>
          <a:noFill/>
          <a:ln/>
        </p:spPr>
        <p:txBody>
          <a:bodyPr wrap="square" rtlCol="0" anchor="ctr"/>
          <a:lstStyle/>
          <a:p>
            <a:pPr indent="0" marL="0">
              <a:buNone/>
            </a:pPr>
            <a:r>
              <a:rPr lang="en-US" sz="1100" i="1" dirty="0">
                <a:solidFill>
                  <a:srgbClr val="94A3B8"/>
                </a:solidFill>
                <a:latin typeface="Arial" pitchFamily="34" charset="0"/>
                <a:ea typeface="Arial" pitchFamily="34" charset="-122"/>
                <a:cs typeface="Arial" pitchFamily="34" charset="-120"/>
              </a:rPr>
              <a:t>AI Engineer &amp; Backend Developer / Log Ingestion Analyst</a:t>
            </a:r>
            <a:endParaRPr lang="en-US" sz="1100" dirty="0"/>
          </a:p>
        </p:txBody>
      </p:sp>
      <p:sp>
        <p:nvSpPr>
          <p:cNvPr id="26" name="Text 23"/>
          <p:cNvSpPr/>
          <p:nvPr/>
        </p:nvSpPr>
        <p:spPr>
          <a:xfrm>
            <a:off x="4617720" y="6263640"/>
            <a:ext cx="2743200" cy="274320"/>
          </a:xfrm>
          <a:prstGeom prst="rect">
            <a:avLst/>
          </a:prstGeom>
          <a:noFill/>
          <a:ln/>
        </p:spPr>
        <p:txBody>
          <a:bodyPr wrap="square" rtlCol="0" anchor="ctr"/>
          <a:lstStyle/>
          <a:p>
            <a:pPr indent="0" marL="0">
              <a:buNone/>
            </a:pPr>
            <a:r>
              <a:rPr lang="en-US" sz="1000" dirty="0">
                <a:solidFill>
                  <a:srgbClr val="5B6576"/>
                </a:solidFill>
                <a:latin typeface="Consolas" pitchFamily="34" charset="0"/>
                <a:ea typeface="Consolas" pitchFamily="34" charset="-122"/>
                <a:cs typeface="Consolas" pitchFamily="34" charset="-120"/>
              </a:rPr>
              <a:t>July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4"/>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200" kern="0" dirty="0">
                <a:solidFill>
                  <a:srgbClr val="F59E0B"/>
                </a:solidFill>
                <a:latin typeface="Consolas" pitchFamily="34" charset="0"/>
                <a:ea typeface="Consolas" pitchFamily="34" charset="-122"/>
                <a:cs typeface="Consolas" pitchFamily="34" charset="-120"/>
              </a:rPr>
              <a:t>THE PROBLEM</a:t>
            </a:r>
            <a:endParaRPr lang="en-US" sz="1200" dirty="0"/>
          </a:p>
        </p:txBody>
      </p:sp>
      <p:sp>
        <p:nvSpPr>
          <p:cNvPr id="3" name="Text 1"/>
          <p:cNvSpPr/>
          <p:nvPr/>
        </p:nvSpPr>
        <p:spPr>
          <a:xfrm>
            <a:off x="548640" y="713232"/>
            <a:ext cx="10881360" cy="822960"/>
          </a:xfrm>
          <a:prstGeom prst="rect">
            <a:avLst/>
          </a:prstGeom>
          <a:noFill/>
          <a:ln/>
        </p:spPr>
        <p:txBody>
          <a:bodyPr wrap="square" rtlCol="0" anchor="ctr"/>
          <a:lstStyle/>
          <a:p>
            <a:pPr indent="0" marL="0">
              <a:buNone/>
            </a:pPr>
            <a:r>
              <a:rPr lang="en-US" sz="3200" b="1" dirty="0">
                <a:solidFill>
                  <a:srgbClr val="F1F5F9"/>
                </a:solidFill>
                <a:latin typeface="Arial" pitchFamily="34" charset="0"/>
                <a:ea typeface="Arial" pitchFamily="34" charset="-122"/>
                <a:cs typeface="Arial" pitchFamily="34" charset="-120"/>
              </a:rPr>
              <a:t>Why We Built This</a:t>
            </a:r>
            <a:endParaRPr lang="en-US" sz="3200" dirty="0"/>
          </a:p>
        </p:txBody>
      </p:sp>
      <p:sp>
        <p:nvSpPr>
          <p:cNvPr id="4" name="Text 2"/>
          <p:cNvSpPr/>
          <p:nvPr/>
        </p:nvSpPr>
        <p:spPr>
          <a:xfrm>
            <a:off x="548640" y="1600200"/>
            <a:ext cx="10607040" cy="1737360"/>
          </a:xfrm>
          <a:prstGeom prst="rect">
            <a:avLst/>
          </a:prstGeom>
          <a:noFill/>
          <a:ln/>
        </p:spPr>
        <p:txBody>
          <a:bodyPr wrap="square" rtlCol="0" anchor="t"/>
          <a:lstStyle/>
          <a:p>
            <a:pPr marL="342900" indent="-342900">
              <a:lnSpc>
                <a:spcPct val="115000"/>
              </a:lnSpc>
              <a:spcAft>
                <a:spcPts val="1200"/>
              </a:spcAft>
              <a:buSzPct val="100000"/>
              <a:buChar char="•"/>
            </a:pPr>
            <a:r>
              <a:rPr lang="en-US" sz="1550" dirty="0">
                <a:solidFill>
                  <a:srgbClr val="F1F5F9"/>
                </a:solidFill>
                <a:latin typeface="Arial" pitchFamily="34" charset="0"/>
                <a:ea typeface="Arial" pitchFamily="34" charset="-122"/>
                <a:cs typeface="Arial" pitchFamily="34" charset="-120"/>
              </a:rPr>
              <a:t>LTI's developers are the first responders to server incidents — but they're not trained forensic investigators, and raw logs don't tell them what's real versus noise.</a:t>
            </a:r>
            <a:endParaRPr lang="en-US" sz="1550" dirty="0"/>
          </a:p>
          <a:p>
            <a:pPr marL="342900" indent="-342900">
              <a:lnSpc>
                <a:spcPct val="115000"/>
              </a:lnSpc>
              <a:spcAft>
                <a:spcPts val="1200"/>
              </a:spcAft>
              <a:buSzPct val="100000"/>
              <a:buChar char="•"/>
            </a:pPr>
            <a:r>
              <a:rPr lang="en-US" sz="1550" dirty="0">
                <a:solidFill>
                  <a:srgbClr val="F1F5F9"/>
                </a:solidFill>
                <a:latin typeface="Arial" pitchFamily="34" charset="0"/>
                <a:ea typeface="Arial" pitchFamily="34" charset="-122"/>
                <a:cs typeface="Arial" pitchFamily="34" charset="-120"/>
              </a:rPr>
              <a:t>Escalating to a specialist adds hours of waiting — and every hour is an hour an attacker keeps moving.</a:t>
            </a:r>
            <a:endParaRPr lang="en-US" sz="1550" dirty="0"/>
          </a:p>
          <a:p>
            <a:pPr marL="342900" indent="-342900">
              <a:lnSpc>
                <a:spcPct val="115000"/>
              </a:lnSpc>
              <a:spcAft>
                <a:spcPts val="1200"/>
              </a:spcAft>
              <a:buSzPct val="100000"/>
              <a:buChar char="•"/>
            </a:pPr>
            <a:r>
              <a:rPr lang="en-US" sz="1550" dirty="0">
                <a:solidFill>
                  <a:srgbClr val="F1F5F9"/>
                </a:solidFill>
                <a:latin typeface="Arial" pitchFamily="34" charset="0"/>
                <a:ea typeface="Arial" pitchFamily="34" charset="-122"/>
                <a:cs typeface="Arial" pitchFamily="34" charset="-120"/>
              </a:rPr>
              <a:t>End to end, an unassisted response can take up to 12 hours from alert to action.</a:t>
            </a:r>
            <a:endParaRPr lang="en-US" sz="1550" dirty="0"/>
          </a:p>
        </p:txBody>
      </p:sp>
      <p:sp>
        <p:nvSpPr>
          <p:cNvPr id="5" name="Shape 3"/>
          <p:cNvSpPr/>
          <p:nvPr/>
        </p:nvSpPr>
        <p:spPr>
          <a:xfrm>
            <a:off x="822960" y="4709160"/>
            <a:ext cx="10515600" cy="0"/>
          </a:xfrm>
          <a:prstGeom prst="line">
            <a:avLst/>
          </a:prstGeom>
          <a:noFill/>
          <a:ln w="25400">
            <a:solidFill>
              <a:srgbClr val="232B3A"/>
            </a:solidFill>
            <a:prstDash val="solid"/>
          </a:ln>
        </p:spPr>
      </p:sp>
      <p:sp>
        <p:nvSpPr>
          <p:cNvPr id="6" name="Shape 4"/>
          <p:cNvSpPr/>
          <p:nvPr/>
        </p:nvSpPr>
        <p:spPr>
          <a:xfrm>
            <a:off x="740664" y="4626864"/>
            <a:ext cx="164592" cy="164592"/>
          </a:xfrm>
          <a:prstGeom prst="ellipse">
            <a:avLst/>
          </a:prstGeom>
          <a:solidFill>
            <a:srgbClr val="F59E0B"/>
          </a:solidFill>
          <a:ln w="12700">
            <a:solidFill>
              <a:srgbClr val="F59E0B"/>
            </a:solidFill>
            <a:prstDash val="solid"/>
          </a:ln>
        </p:spPr>
      </p:sp>
      <p:pic>
        <p:nvPicPr>
          <p:cNvPr id="7" name="Image 0" descr="/home/claude/aadfa_deck_v2/icons/alert.png">    </p:cNvPr>
          <p:cNvPicPr>
            <a:picLocks noChangeAspect="1"/>
          </p:cNvPicPr>
          <p:nvPr/>
        </p:nvPicPr>
        <p:blipFill>
          <a:blip r:embed="rId1"/>
          <a:stretch>
            <a:fillRect/>
          </a:stretch>
        </p:blipFill>
        <p:spPr>
          <a:xfrm>
            <a:off x="566928" y="3931920"/>
            <a:ext cx="512064" cy="512064"/>
          </a:xfrm>
          <a:prstGeom prst="rect">
            <a:avLst/>
          </a:prstGeom>
        </p:spPr>
      </p:pic>
      <p:sp>
        <p:nvSpPr>
          <p:cNvPr id="8" name="Text 5"/>
          <p:cNvSpPr/>
          <p:nvPr/>
        </p:nvSpPr>
        <p:spPr>
          <a:xfrm>
            <a:off x="-182880" y="4910328"/>
            <a:ext cx="2011680" cy="320040"/>
          </a:xfrm>
          <a:prstGeom prst="rect">
            <a:avLst/>
          </a:prstGeom>
          <a:noFill/>
          <a:ln/>
        </p:spPr>
        <p:txBody>
          <a:bodyPr wrap="square" rtlCol="0" anchor="ctr"/>
          <a:lstStyle/>
          <a:p>
            <a:pPr algn="ctr" indent="0" marL="0">
              <a:buNone/>
            </a:pPr>
            <a:r>
              <a:rPr lang="en-US" sz="1300" b="1" dirty="0">
                <a:solidFill>
                  <a:srgbClr val="F1F5F9"/>
                </a:solidFill>
                <a:latin typeface="Arial" pitchFamily="34" charset="0"/>
                <a:ea typeface="Arial" pitchFamily="34" charset="-122"/>
                <a:cs typeface="Arial" pitchFamily="34" charset="-120"/>
              </a:rPr>
              <a:t>Incident</a:t>
            </a:r>
            <a:endParaRPr lang="en-US" sz="1300" dirty="0"/>
          </a:p>
        </p:txBody>
      </p:sp>
      <p:sp>
        <p:nvSpPr>
          <p:cNvPr id="9" name="Text 6"/>
          <p:cNvSpPr/>
          <p:nvPr/>
        </p:nvSpPr>
        <p:spPr>
          <a:xfrm>
            <a:off x="-182880" y="5221224"/>
            <a:ext cx="2011680" cy="274320"/>
          </a:xfrm>
          <a:prstGeom prst="rect">
            <a:avLst/>
          </a:prstGeom>
          <a:noFill/>
          <a:ln/>
        </p:spPr>
        <p:txBody>
          <a:bodyPr wrap="square" rtlCol="0" anchor="ctr"/>
          <a:lstStyle/>
          <a:p>
            <a:pPr algn="ctr" indent="0" marL="0">
              <a:buNone/>
            </a:pPr>
            <a:r>
              <a:rPr lang="en-US" sz="1200" dirty="0">
                <a:solidFill>
                  <a:srgbClr val="F59E0B"/>
                </a:solidFill>
                <a:latin typeface="Consolas" pitchFamily="34" charset="0"/>
                <a:ea typeface="Consolas" pitchFamily="34" charset="-122"/>
                <a:cs typeface="Consolas" pitchFamily="34" charset="-120"/>
              </a:rPr>
              <a:t>t = 0</a:t>
            </a:r>
            <a:endParaRPr lang="en-US" sz="1200" dirty="0"/>
          </a:p>
        </p:txBody>
      </p:sp>
      <p:sp>
        <p:nvSpPr>
          <p:cNvPr id="10" name="Shape 7"/>
          <p:cNvSpPr/>
          <p:nvPr/>
        </p:nvSpPr>
        <p:spPr>
          <a:xfrm>
            <a:off x="4245864" y="4626864"/>
            <a:ext cx="164592" cy="164592"/>
          </a:xfrm>
          <a:prstGeom prst="ellipse">
            <a:avLst/>
          </a:prstGeom>
          <a:solidFill>
            <a:srgbClr val="22D3EE"/>
          </a:solidFill>
          <a:ln w="12700">
            <a:solidFill>
              <a:srgbClr val="22D3EE"/>
            </a:solidFill>
            <a:prstDash val="solid"/>
          </a:ln>
        </p:spPr>
      </p:sp>
      <p:pic>
        <p:nvPicPr>
          <p:cNvPr id="11" name="Image 1" descr="/home/claude/aadfa_deck_v2/icons/clock.png">    </p:cNvPr>
          <p:cNvPicPr>
            <a:picLocks noChangeAspect="1"/>
          </p:cNvPicPr>
          <p:nvPr/>
        </p:nvPicPr>
        <p:blipFill>
          <a:blip r:embed="rId2"/>
          <a:stretch>
            <a:fillRect/>
          </a:stretch>
        </p:blipFill>
        <p:spPr>
          <a:xfrm>
            <a:off x="4072128" y="3931920"/>
            <a:ext cx="512064" cy="512064"/>
          </a:xfrm>
          <a:prstGeom prst="rect">
            <a:avLst/>
          </a:prstGeom>
        </p:spPr>
      </p:pic>
      <p:sp>
        <p:nvSpPr>
          <p:cNvPr id="12" name="Text 8"/>
          <p:cNvSpPr/>
          <p:nvPr/>
        </p:nvSpPr>
        <p:spPr>
          <a:xfrm>
            <a:off x="3322320" y="4910328"/>
            <a:ext cx="2011680" cy="320040"/>
          </a:xfrm>
          <a:prstGeom prst="rect">
            <a:avLst/>
          </a:prstGeom>
          <a:noFill/>
          <a:ln/>
        </p:spPr>
        <p:txBody>
          <a:bodyPr wrap="square" rtlCol="0" anchor="ctr"/>
          <a:lstStyle/>
          <a:p>
            <a:pPr algn="ctr" indent="0" marL="0">
              <a:buNone/>
            </a:pPr>
            <a:r>
              <a:rPr lang="en-US" sz="1300" b="1" dirty="0">
                <a:solidFill>
                  <a:srgbClr val="F1F5F9"/>
                </a:solidFill>
                <a:latin typeface="Arial" pitchFamily="34" charset="0"/>
                <a:ea typeface="Arial" pitchFamily="34" charset="-122"/>
                <a:cs typeface="Arial" pitchFamily="34" charset="-120"/>
              </a:rPr>
              <a:t>Manual Reading</a:t>
            </a:r>
            <a:endParaRPr lang="en-US" sz="1300" dirty="0"/>
          </a:p>
        </p:txBody>
      </p:sp>
      <p:sp>
        <p:nvSpPr>
          <p:cNvPr id="13" name="Text 9"/>
          <p:cNvSpPr/>
          <p:nvPr/>
        </p:nvSpPr>
        <p:spPr>
          <a:xfrm>
            <a:off x="3322320" y="5221224"/>
            <a:ext cx="2011680" cy="274320"/>
          </a:xfrm>
          <a:prstGeom prst="rect">
            <a:avLst/>
          </a:prstGeom>
          <a:noFill/>
          <a:ln/>
        </p:spPr>
        <p:txBody>
          <a:bodyPr wrap="square" rtlCol="0" anchor="ctr"/>
          <a:lstStyle/>
          <a:p>
            <a:pPr algn="ctr" indent="0" marL="0">
              <a:buNone/>
            </a:pPr>
            <a:r>
              <a:rPr lang="en-US" sz="1200" dirty="0">
                <a:solidFill>
                  <a:srgbClr val="22D3EE"/>
                </a:solidFill>
                <a:latin typeface="Consolas" pitchFamily="34" charset="0"/>
                <a:ea typeface="Consolas" pitchFamily="34" charset="-122"/>
                <a:cs typeface="Consolas" pitchFamily="34" charset="-120"/>
              </a:rPr>
              <a:t>2–4 hrs</a:t>
            </a:r>
            <a:endParaRPr lang="en-US" sz="1200" dirty="0"/>
          </a:p>
        </p:txBody>
      </p:sp>
      <p:sp>
        <p:nvSpPr>
          <p:cNvPr id="14" name="Shape 10"/>
          <p:cNvSpPr/>
          <p:nvPr/>
        </p:nvSpPr>
        <p:spPr>
          <a:xfrm>
            <a:off x="7751064" y="4626864"/>
            <a:ext cx="164592" cy="164592"/>
          </a:xfrm>
          <a:prstGeom prst="ellipse">
            <a:avLst/>
          </a:prstGeom>
          <a:solidFill>
            <a:srgbClr val="F59E0B"/>
          </a:solidFill>
          <a:ln w="12700">
            <a:solidFill>
              <a:srgbClr val="F59E0B"/>
            </a:solidFill>
            <a:prstDash val="solid"/>
          </a:ln>
        </p:spPr>
      </p:sp>
      <p:pic>
        <p:nvPicPr>
          <p:cNvPr id="15" name="Image 2" descr="/home/claude/aadfa_deck_v2/icons/clockAmber.png">    </p:cNvPr>
          <p:cNvPicPr>
            <a:picLocks noChangeAspect="1"/>
          </p:cNvPicPr>
          <p:nvPr/>
        </p:nvPicPr>
        <p:blipFill>
          <a:blip r:embed="rId3"/>
          <a:stretch>
            <a:fillRect/>
          </a:stretch>
        </p:blipFill>
        <p:spPr>
          <a:xfrm>
            <a:off x="7577328" y="3931920"/>
            <a:ext cx="512064" cy="512064"/>
          </a:xfrm>
          <a:prstGeom prst="rect">
            <a:avLst/>
          </a:prstGeom>
        </p:spPr>
      </p:pic>
      <p:sp>
        <p:nvSpPr>
          <p:cNvPr id="16" name="Text 11"/>
          <p:cNvSpPr/>
          <p:nvPr/>
        </p:nvSpPr>
        <p:spPr>
          <a:xfrm>
            <a:off x="6827520" y="4910328"/>
            <a:ext cx="2011680" cy="320040"/>
          </a:xfrm>
          <a:prstGeom prst="rect">
            <a:avLst/>
          </a:prstGeom>
          <a:noFill/>
          <a:ln/>
        </p:spPr>
        <p:txBody>
          <a:bodyPr wrap="square" rtlCol="0" anchor="ctr"/>
          <a:lstStyle/>
          <a:p>
            <a:pPr algn="ctr" indent="0" marL="0">
              <a:buNone/>
            </a:pPr>
            <a:r>
              <a:rPr lang="en-US" sz="1300" b="1" dirty="0">
                <a:solidFill>
                  <a:srgbClr val="F1F5F9"/>
                </a:solidFill>
                <a:latin typeface="Arial" pitchFamily="34" charset="0"/>
                <a:ea typeface="Arial" pitchFamily="34" charset="-122"/>
                <a:cs typeface="Arial" pitchFamily="34" charset="-120"/>
              </a:rPr>
              <a:t>Wait for Specialist</a:t>
            </a:r>
            <a:endParaRPr lang="en-US" sz="1300" dirty="0"/>
          </a:p>
        </p:txBody>
      </p:sp>
      <p:sp>
        <p:nvSpPr>
          <p:cNvPr id="17" name="Text 12"/>
          <p:cNvSpPr/>
          <p:nvPr/>
        </p:nvSpPr>
        <p:spPr>
          <a:xfrm>
            <a:off x="6827520" y="5221224"/>
            <a:ext cx="2011680" cy="274320"/>
          </a:xfrm>
          <a:prstGeom prst="rect">
            <a:avLst/>
          </a:prstGeom>
          <a:noFill/>
          <a:ln/>
        </p:spPr>
        <p:txBody>
          <a:bodyPr wrap="square" rtlCol="0" anchor="ctr"/>
          <a:lstStyle/>
          <a:p>
            <a:pPr algn="ctr" indent="0" marL="0">
              <a:buNone/>
            </a:pPr>
            <a:r>
              <a:rPr lang="en-US" sz="1200" dirty="0">
                <a:solidFill>
                  <a:srgbClr val="F59E0B"/>
                </a:solidFill>
                <a:latin typeface="Consolas" pitchFamily="34" charset="0"/>
                <a:ea typeface="Consolas" pitchFamily="34" charset="-122"/>
                <a:cs typeface="Consolas" pitchFamily="34" charset="-120"/>
              </a:rPr>
              <a:t>4–8 hrs</a:t>
            </a:r>
            <a:endParaRPr lang="en-US" sz="1200" dirty="0"/>
          </a:p>
        </p:txBody>
      </p:sp>
      <p:sp>
        <p:nvSpPr>
          <p:cNvPr id="18" name="Shape 13"/>
          <p:cNvSpPr/>
          <p:nvPr/>
        </p:nvSpPr>
        <p:spPr>
          <a:xfrm>
            <a:off x="11256264" y="4626864"/>
            <a:ext cx="164592" cy="164592"/>
          </a:xfrm>
          <a:prstGeom prst="ellipse">
            <a:avLst/>
          </a:prstGeom>
          <a:solidFill>
            <a:srgbClr val="EF4444"/>
          </a:solidFill>
          <a:ln w="12700">
            <a:solidFill>
              <a:srgbClr val="EF4444"/>
            </a:solidFill>
            <a:prstDash val="solid"/>
          </a:ln>
        </p:spPr>
      </p:sp>
      <p:pic>
        <p:nvPicPr>
          <p:cNvPr id="19" name="Image 3" descr="/home/claude/aadfa_deck_v2/icons/octagon.png">    </p:cNvPr>
          <p:cNvPicPr>
            <a:picLocks noChangeAspect="1"/>
          </p:cNvPicPr>
          <p:nvPr/>
        </p:nvPicPr>
        <p:blipFill>
          <a:blip r:embed="rId4"/>
          <a:stretch>
            <a:fillRect/>
          </a:stretch>
        </p:blipFill>
        <p:spPr>
          <a:xfrm>
            <a:off x="11082528" y="3931920"/>
            <a:ext cx="512064" cy="512064"/>
          </a:xfrm>
          <a:prstGeom prst="rect">
            <a:avLst/>
          </a:prstGeom>
        </p:spPr>
      </p:pic>
      <p:sp>
        <p:nvSpPr>
          <p:cNvPr id="20" name="Text 14"/>
          <p:cNvSpPr/>
          <p:nvPr/>
        </p:nvSpPr>
        <p:spPr>
          <a:xfrm>
            <a:off x="10332720" y="4910328"/>
            <a:ext cx="2011680" cy="320040"/>
          </a:xfrm>
          <a:prstGeom prst="rect">
            <a:avLst/>
          </a:prstGeom>
          <a:noFill/>
          <a:ln/>
        </p:spPr>
        <p:txBody>
          <a:bodyPr wrap="square" rtlCol="0" anchor="ctr"/>
          <a:lstStyle/>
          <a:p>
            <a:pPr algn="ctr" indent="0" marL="0">
              <a:buNone/>
            </a:pPr>
            <a:r>
              <a:rPr lang="en-US" sz="1300" b="1" dirty="0">
                <a:solidFill>
                  <a:srgbClr val="F1F5F9"/>
                </a:solidFill>
                <a:latin typeface="Arial" pitchFamily="34" charset="0"/>
                <a:ea typeface="Arial" pitchFamily="34" charset="-122"/>
                <a:cs typeface="Arial" pitchFamily="34" charset="-120"/>
              </a:rPr>
              <a:t>Response</a:t>
            </a:r>
            <a:endParaRPr lang="en-US" sz="1300" dirty="0"/>
          </a:p>
        </p:txBody>
      </p:sp>
      <p:sp>
        <p:nvSpPr>
          <p:cNvPr id="21" name="Text 15"/>
          <p:cNvSpPr/>
          <p:nvPr/>
        </p:nvSpPr>
        <p:spPr>
          <a:xfrm>
            <a:off x="10332720" y="5221224"/>
            <a:ext cx="2011680" cy="274320"/>
          </a:xfrm>
          <a:prstGeom prst="rect">
            <a:avLst/>
          </a:prstGeom>
          <a:noFill/>
          <a:ln/>
        </p:spPr>
        <p:txBody>
          <a:bodyPr wrap="square" rtlCol="0" anchor="ctr"/>
          <a:lstStyle/>
          <a:p>
            <a:pPr algn="ctr" indent="0" marL="0">
              <a:buNone/>
            </a:pPr>
            <a:r>
              <a:rPr lang="en-US" sz="1200" dirty="0">
                <a:solidFill>
                  <a:srgbClr val="EF4444"/>
                </a:solidFill>
                <a:latin typeface="Consolas" pitchFamily="34" charset="0"/>
                <a:ea typeface="Consolas" pitchFamily="34" charset="-122"/>
                <a:cs typeface="Consolas" pitchFamily="34" charset="-120"/>
              </a:rPr>
              <a:t>up to 12 hrs later</a:t>
            </a:r>
            <a:endParaRPr lang="en-US" sz="1200" dirty="0"/>
          </a:p>
        </p:txBody>
      </p:sp>
      <p:sp>
        <p:nvSpPr>
          <p:cNvPr id="22" name="Text 16"/>
          <p:cNvSpPr/>
          <p:nvPr/>
        </p:nvSpPr>
        <p:spPr>
          <a:xfrm>
            <a:off x="11548872" y="6473952"/>
            <a:ext cx="457200" cy="274320"/>
          </a:xfrm>
          <a:prstGeom prst="rect">
            <a:avLst/>
          </a:prstGeom>
          <a:noFill/>
          <a:ln/>
        </p:spPr>
        <p:txBody>
          <a:bodyPr wrap="square" rtlCol="0" anchor="ctr"/>
          <a:lstStyle/>
          <a:p>
            <a:pPr algn="r" indent="0" marL="0">
              <a:buNone/>
            </a:pPr>
            <a:r>
              <a:rPr lang="en-US" sz="900" dirty="0">
                <a:solidFill>
                  <a:srgbClr val="5B6576"/>
                </a:solidFill>
                <a:latin typeface="Consolas" pitchFamily="34" charset="0"/>
                <a:ea typeface="Consolas" pitchFamily="34" charset="-122"/>
                <a:cs typeface="Consolas"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4"/>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200" kern="0" dirty="0">
                <a:solidFill>
                  <a:srgbClr val="34D399"/>
                </a:solidFill>
                <a:latin typeface="Consolas" pitchFamily="34" charset="0"/>
                <a:ea typeface="Consolas" pitchFamily="34" charset="-122"/>
                <a:cs typeface="Consolas" pitchFamily="34" charset="-120"/>
              </a:rPr>
              <a:t>OUR SOLUTION</a:t>
            </a:r>
            <a:endParaRPr lang="en-US" sz="1200" dirty="0"/>
          </a:p>
        </p:txBody>
      </p:sp>
      <p:sp>
        <p:nvSpPr>
          <p:cNvPr id="3" name="Text 1"/>
          <p:cNvSpPr/>
          <p:nvPr/>
        </p:nvSpPr>
        <p:spPr>
          <a:xfrm>
            <a:off x="548640" y="713232"/>
            <a:ext cx="10881360" cy="822960"/>
          </a:xfrm>
          <a:prstGeom prst="rect">
            <a:avLst/>
          </a:prstGeom>
          <a:noFill/>
          <a:ln/>
        </p:spPr>
        <p:txBody>
          <a:bodyPr wrap="square" rtlCol="0" anchor="ctr"/>
          <a:lstStyle/>
          <a:p>
            <a:pPr indent="0" marL="0">
              <a:buNone/>
            </a:pPr>
            <a:r>
              <a:rPr lang="en-US" sz="3200" b="1" dirty="0">
                <a:solidFill>
                  <a:srgbClr val="F1F5F9"/>
                </a:solidFill>
                <a:latin typeface="Arial" pitchFamily="34" charset="0"/>
                <a:ea typeface="Arial" pitchFamily="34" charset="-122"/>
                <a:cs typeface="Arial" pitchFamily="34" charset="-120"/>
              </a:rPr>
              <a:t>What Team Eight Built</a:t>
            </a:r>
            <a:endParaRPr lang="en-US" sz="3200" dirty="0"/>
          </a:p>
        </p:txBody>
      </p:sp>
      <p:sp>
        <p:nvSpPr>
          <p:cNvPr id="4" name="Text 2"/>
          <p:cNvSpPr/>
          <p:nvPr/>
        </p:nvSpPr>
        <p:spPr>
          <a:xfrm>
            <a:off x="548640" y="1783080"/>
            <a:ext cx="6126480" cy="4480560"/>
          </a:xfrm>
          <a:prstGeom prst="rect">
            <a:avLst/>
          </a:prstGeom>
          <a:noFill/>
          <a:ln/>
        </p:spPr>
        <p:txBody>
          <a:bodyPr wrap="square" rtlCol="0" anchor="t"/>
          <a:lstStyle/>
          <a:p>
            <a:pPr marL="342900" indent="-342900">
              <a:lnSpc>
                <a:spcPct val="115000"/>
              </a:lnSpc>
              <a:spcAft>
                <a:spcPts val="1800"/>
              </a:spcAft>
              <a:buSzPct val="100000"/>
              <a:buChar char="•"/>
            </a:pPr>
            <a:r>
              <a:rPr lang="en-US" sz="1600" dirty="0">
                <a:solidFill>
                  <a:srgbClr val="F1F5F9"/>
                </a:solidFill>
                <a:latin typeface="Arial" pitchFamily="34" charset="0"/>
                <a:ea typeface="Arial" pitchFamily="34" charset="-122"/>
                <a:cs typeface="Arial" pitchFamily="34" charset="-120"/>
              </a:rPr>
              <a:t>The Digital Forensics Assistant turns a raw log file into a plain-English report in under two minutes — no forensic training required.</a:t>
            </a:r>
            <a:endParaRPr lang="en-US" sz="1600" dirty="0"/>
          </a:p>
          <a:p>
            <a:pPr marL="342900" indent="-342900">
              <a:lnSpc>
                <a:spcPct val="115000"/>
              </a:lnSpc>
              <a:spcAft>
                <a:spcPts val="1800"/>
              </a:spcAft>
              <a:buSzPct val="100000"/>
              <a:buChar char="•"/>
            </a:pPr>
            <a:r>
              <a:rPr lang="en-US" sz="1600" dirty="0">
                <a:solidFill>
                  <a:srgbClr val="F1F5F9"/>
                </a:solidFill>
                <a:latin typeface="Arial" pitchFamily="34" charset="0"/>
                <a:ea typeface="Arial" pitchFamily="34" charset="-122"/>
                <a:cs typeface="Arial" pitchFamily="34" charset="-120"/>
              </a:rPr>
              <a:t>It handles the full pipeline: log upload or remote SSH acquisition, AI-assisted analysis, IoC extraction, attack timeline, and a signed PDF report.</a:t>
            </a:r>
            <a:endParaRPr lang="en-US" sz="1600" dirty="0"/>
          </a:p>
          <a:p>
            <a:pPr marL="342900" indent="-342900">
              <a:lnSpc>
                <a:spcPct val="115000"/>
              </a:lnSpc>
              <a:spcAft>
                <a:spcPts val="1800"/>
              </a:spcAft>
              <a:buSzPct val="100000"/>
              <a:buChar char="•"/>
            </a:pPr>
            <a:r>
              <a:rPr lang="en-US" sz="1600" dirty="0">
                <a:solidFill>
                  <a:srgbClr val="F1F5F9"/>
                </a:solidFill>
                <a:latin typeface="Arial" pitchFamily="34" charset="0"/>
                <a:ea typeface="Arial" pitchFamily="34" charset="-122"/>
                <a:cs typeface="Arial" pitchFamily="34" charset="-120"/>
              </a:rPr>
              <a:t>Everything — the AI model included — runs on LTI's own server. Nothing leaves their network.</a:t>
            </a:r>
            <a:endParaRPr lang="en-US" sz="1600" dirty="0"/>
          </a:p>
        </p:txBody>
      </p:sp>
      <p:sp>
        <p:nvSpPr>
          <p:cNvPr id="5" name="Shape 3"/>
          <p:cNvSpPr/>
          <p:nvPr/>
        </p:nvSpPr>
        <p:spPr>
          <a:xfrm>
            <a:off x="7223760" y="1920240"/>
            <a:ext cx="4389120" cy="960120"/>
          </a:xfrm>
          <a:prstGeom prst="roundRect">
            <a:avLst>
              <a:gd name="adj" fmla="val 7619"/>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6" name="Image 0" descr="/home/claude/aadfa_deck_v2/icons/laptop.png">    </p:cNvPr>
          <p:cNvPicPr>
            <a:picLocks noChangeAspect="1"/>
          </p:cNvPicPr>
          <p:nvPr/>
        </p:nvPicPr>
        <p:blipFill>
          <a:blip r:embed="rId1"/>
          <a:stretch>
            <a:fillRect/>
          </a:stretch>
        </p:blipFill>
        <p:spPr>
          <a:xfrm>
            <a:off x="7498080" y="2157984"/>
            <a:ext cx="457200" cy="457200"/>
          </a:xfrm>
          <a:prstGeom prst="rect">
            <a:avLst/>
          </a:prstGeom>
        </p:spPr>
      </p:pic>
      <p:sp>
        <p:nvSpPr>
          <p:cNvPr id="7" name="Text 4"/>
          <p:cNvSpPr/>
          <p:nvPr/>
        </p:nvSpPr>
        <p:spPr>
          <a:xfrm>
            <a:off x="8138160" y="1920240"/>
            <a:ext cx="3291840" cy="960120"/>
          </a:xfrm>
          <a:prstGeom prst="rect">
            <a:avLst/>
          </a:prstGeom>
          <a:noFill/>
          <a:ln/>
        </p:spPr>
        <p:txBody>
          <a:bodyPr wrap="square" rtlCol="0" anchor="ctr"/>
          <a:lstStyle/>
          <a:p>
            <a:pPr indent="0" marL="0">
              <a:buNone/>
            </a:pPr>
            <a:r>
              <a:rPr lang="en-US" sz="1500" b="1" dirty="0">
                <a:solidFill>
                  <a:srgbClr val="F1F5F9"/>
                </a:solidFill>
                <a:latin typeface="Arial" pitchFamily="34" charset="0"/>
                <a:ea typeface="Arial" pitchFamily="34" charset="-122"/>
                <a:cs typeface="Arial" pitchFamily="34" charset="-120"/>
              </a:rPr>
              <a:t>Person with Laptop</a:t>
            </a:r>
            <a:endParaRPr lang="en-US" sz="1500" dirty="0"/>
          </a:p>
        </p:txBody>
      </p:sp>
      <p:sp>
        <p:nvSpPr>
          <p:cNvPr id="8" name="Shape 5"/>
          <p:cNvSpPr/>
          <p:nvPr/>
        </p:nvSpPr>
        <p:spPr>
          <a:xfrm>
            <a:off x="9409176" y="2880360"/>
            <a:ext cx="0" cy="201168"/>
          </a:xfrm>
          <a:prstGeom prst="line">
            <a:avLst/>
          </a:prstGeom>
          <a:noFill/>
          <a:ln w="19050">
            <a:solidFill>
              <a:srgbClr val="5B6576"/>
            </a:solidFill>
            <a:prstDash val="solid"/>
            <a:tailEnd type="triangle"/>
          </a:ln>
        </p:spPr>
      </p:sp>
      <p:sp>
        <p:nvSpPr>
          <p:cNvPr id="9" name="Shape 6"/>
          <p:cNvSpPr/>
          <p:nvPr/>
        </p:nvSpPr>
        <p:spPr>
          <a:xfrm>
            <a:off x="7223760" y="3081528"/>
            <a:ext cx="4389120" cy="960120"/>
          </a:xfrm>
          <a:prstGeom prst="roundRect">
            <a:avLst>
              <a:gd name="adj" fmla="val 7619"/>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10" name="Image 1" descr="/home/claude/aadfa_deck_v2/icons/file.png">    </p:cNvPr>
          <p:cNvPicPr>
            <a:picLocks noChangeAspect="1"/>
          </p:cNvPicPr>
          <p:nvPr/>
        </p:nvPicPr>
        <p:blipFill>
          <a:blip r:embed="rId2"/>
          <a:stretch>
            <a:fillRect/>
          </a:stretch>
        </p:blipFill>
        <p:spPr>
          <a:xfrm>
            <a:off x="7498080" y="3319272"/>
            <a:ext cx="457200" cy="457200"/>
          </a:xfrm>
          <a:prstGeom prst="rect">
            <a:avLst/>
          </a:prstGeom>
        </p:spPr>
      </p:pic>
      <p:sp>
        <p:nvSpPr>
          <p:cNvPr id="11" name="Text 7"/>
          <p:cNvSpPr/>
          <p:nvPr/>
        </p:nvSpPr>
        <p:spPr>
          <a:xfrm>
            <a:off x="8138160" y="3081528"/>
            <a:ext cx="3291840" cy="960120"/>
          </a:xfrm>
          <a:prstGeom prst="rect">
            <a:avLst/>
          </a:prstGeom>
          <a:noFill/>
          <a:ln/>
        </p:spPr>
        <p:txBody>
          <a:bodyPr wrap="square" rtlCol="0" anchor="ctr"/>
          <a:lstStyle/>
          <a:p>
            <a:pPr indent="0" marL="0">
              <a:buNone/>
            </a:pPr>
            <a:r>
              <a:rPr lang="en-US" sz="1500" b="1" dirty="0">
                <a:solidFill>
                  <a:srgbClr val="F1F5F9"/>
                </a:solidFill>
                <a:latin typeface="Arial" pitchFamily="34" charset="0"/>
                <a:ea typeface="Arial" pitchFamily="34" charset="-122"/>
                <a:cs typeface="Arial" pitchFamily="34" charset="-120"/>
              </a:rPr>
              <a:t>Log File</a:t>
            </a:r>
            <a:endParaRPr lang="en-US" sz="1500" dirty="0"/>
          </a:p>
        </p:txBody>
      </p:sp>
      <p:sp>
        <p:nvSpPr>
          <p:cNvPr id="12" name="Shape 8"/>
          <p:cNvSpPr/>
          <p:nvPr/>
        </p:nvSpPr>
        <p:spPr>
          <a:xfrm>
            <a:off x="9409176" y="4041648"/>
            <a:ext cx="0" cy="201168"/>
          </a:xfrm>
          <a:prstGeom prst="line">
            <a:avLst/>
          </a:prstGeom>
          <a:noFill/>
          <a:ln w="19050">
            <a:solidFill>
              <a:srgbClr val="5B6576"/>
            </a:solidFill>
            <a:prstDash val="solid"/>
            <a:tailEnd type="triangle"/>
          </a:ln>
        </p:spPr>
      </p:sp>
      <p:sp>
        <p:nvSpPr>
          <p:cNvPr id="13" name="Shape 9"/>
          <p:cNvSpPr/>
          <p:nvPr/>
        </p:nvSpPr>
        <p:spPr>
          <a:xfrm>
            <a:off x="7223760" y="4242816"/>
            <a:ext cx="4389120" cy="960120"/>
          </a:xfrm>
          <a:prstGeom prst="roundRect">
            <a:avLst>
              <a:gd name="adj" fmla="val 7619"/>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14" name="Image 2" descr="/home/claude/aadfa_deck_v2/icons/bot.png">    </p:cNvPr>
          <p:cNvPicPr>
            <a:picLocks noChangeAspect="1"/>
          </p:cNvPicPr>
          <p:nvPr/>
        </p:nvPicPr>
        <p:blipFill>
          <a:blip r:embed="rId3"/>
          <a:stretch>
            <a:fillRect/>
          </a:stretch>
        </p:blipFill>
        <p:spPr>
          <a:xfrm>
            <a:off x="7498080" y="4480560"/>
            <a:ext cx="457200" cy="457200"/>
          </a:xfrm>
          <a:prstGeom prst="rect">
            <a:avLst/>
          </a:prstGeom>
        </p:spPr>
      </p:pic>
      <p:sp>
        <p:nvSpPr>
          <p:cNvPr id="15" name="Text 10"/>
          <p:cNvSpPr/>
          <p:nvPr/>
        </p:nvSpPr>
        <p:spPr>
          <a:xfrm>
            <a:off x="8138160" y="4242816"/>
            <a:ext cx="3291840" cy="960120"/>
          </a:xfrm>
          <a:prstGeom prst="rect">
            <a:avLst/>
          </a:prstGeom>
          <a:noFill/>
          <a:ln/>
        </p:spPr>
        <p:txBody>
          <a:bodyPr wrap="square" rtlCol="0" anchor="ctr"/>
          <a:lstStyle/>
          <a:p>
            <a:pPr indent="0" marL="0">
              <a:buNone/>
            </a:pPr>
            <a:r>
              <a:rPr lang="en-US" sz="1500" b="1" dirty="0">
                <a:solidFill>
                  <a:srgbClr val="F1F5F9"/>
                </a:solidFill>
                <a:latin typeface="Arial" pitchFamily="34" charset="0"/>
                <a:ea typeface="Arial" pitchFamily="34" charset="-122"/>
                <a:cs typeface="Arial" pitchFamily="34" charset="-120"/>
              </a:rPr>
              <a:t>DFA System</a:t>
            </a:r>
            <a:endParaRPr lang="en-US" sz="1500" dirty="0"/>
          </a:p>
        </p:txBody>
      </p:sp>
      <p:sp>
        <p:nvSpPr>
          <p:cNvPr id="16" name="Shape 11"/>
          <p:cNvSpPr/>
          <p:nvPr/>
        </p:nvSpPr>
        <p:spPr>
          <a:xfrm>
            <a:off x="9409176" y="5202936"/>
            <a:ext cx="0" cy="201168"/>
          </a:xfrm>
          <a:prstGeom prst="line">
            <a:avLst/>
          </a:prstGeom>
          <a:noFill/>
          <a:ln w="19050">
            <a:solidFill>
              <a:srgbClr val="5B6576"/>
            </a:solidFill>
            <a:prstDash val="solid"/>
            <a:tailEnd type="triangle"/>
          </a:ln>
        </p:spPr>
      </p:sp>
      <p:sp>
        <p:nvSpPr>
          <p:cNvPr id="17" name="Shape 12"/>
          <p:cNvSpPr/>
          <p:nvPr/>
        </p:nvSpPr>
        <p:spPr>
          <a:xfrm>
            <a:off x="7223760" y="5404104"/>
            <a:ext cx="4389120" cy="960120"/>
          </a:xfrm>
          <a:prstGeom prst="roundRect">
            <a:avLst>
              <a:gd name="adj" fmla="val 7619"/>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18" name="Image 3" descr="/home/claude/aadfa_deck_v2/icons/fileCheck.png">    </p:cNvPr>
          <p:cNvPicPr>
            <a:picLocks noChangeAspect="1"/>
          </p:cNvPicPr>
          <p:nvPr/>
        </p:nvPicPr>
        <p:blipFill>
          <a:blip r:embed="rId4"/>
          <a:stretch>
            <a:fillRect/>
          </a:stretch>
        </p:blipFill>
        <p:spPr>
          <a:xfrm>
            <a:off x="7498080" y="5641848"/>
            <a:ext cx="457200" cy="457200"/>
          </a:xfrm>
          <a:prstGeom prst="rect">
            <a:avLst/>
          </a:prstGeom>
        </p:spPr>
      </p:pic>
      <p:sp>
        <p:nvSpPr>
          <p:cNvPr id="19" name="Text 13"/>
          <p:cNvSpPr/>
          <p:nvPr/>
        </p:nvSpPr>
        <p:spPr>
          <a:xfrm>
            <a:off x="8138160" y="5404104"/>
            <a:ext cx="3291840" cy="960120"/>
          </a:xfrm>
          <a:prstGeom prst="rect">
            <a:avLst/>
          </a:prstGeom>
          <a:noFill/>
          <a:ln/>
        </p:spPr>
        <p:txBody>
          <a:bodyPr wrap="square" rtlCol="0" anchor="ctr"/>
          <a:lstStyle/>
          <a:p>
            <a:pPr indent="0" marL="0">
              <a:buNone/>
            </a:pPr>
            <a:r>
              <a:rPr lang="en-US" sz="1500" b="1" dirty="0">
                <a:solidFill>
                  <a:srgbClr val="F1F5F9"/>
                </a:solidFill>
                <a:latin typeface="Arial" pitchFamily="34" charset="0"/>
                <a:ea typeface="Arial" pitchFamily="34" charset="-122"/>
                <a:cs typeface="Arial" pitchFamily="34" charset="-120"/>
              </a:rPr>
              <a:t>Report</a:t>
            </a:r>
            <a:endParaRPr lang="en-US" sz="1500" dirty="0"/>
          </a:p>
        </p:txBody>
      </p:sp>
      <p:sp>
        <p:nvSpPr>
          <p:cNvPr id="20" name="Text 14"/>
          <p:cNvSpPr/>
          <p:nvPr/>
        </p:nvSpPr>
        <p:spPr>
          <a:xfrm>
            <a:off x="11548872" y="6473952"/>
            <a:ext cx="457200" cy="274320"/>
          </a:xfrm>
          <a:prstGeom prst="rect">
            <a:avLst/>
          </a:prstGeom>
          <a:noFill/>
          <a:ln/>
        </p:spPr>
        <p:txBody>
          <a:bodyPr wrap="square" rtlCol="0" anchor="ctr"/>
          <a:lstStyle/>
          <a:p>
            <a:pPr algn="r" indent="0" marL="0">
              <a:buNone/>
            </a:pPr>
            <a:r>
              <a:rPr lang="en-US" sz="900" dirty="0">
                <a:solidFill>
                  <a:srgbClr val="5B6576"/>
                </a:solidFill>
                <a:latin typeface="Consolas" pitchFamily="34" charset="0"/>
                <a:ea typeface="Consolas" pitchFamily="34" charset="-122"/>
                <a:cs typeface="Consolas"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E14"/>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200" kern="0" dirty="0">
                <a:solidFill>
                  <a:srgbClr val="22D3EE"/>
                </a:solidFill>
                <a:latin typeface="Consolas" pitchFamily="34" charset="0"/>
                <a:ea typeface="Consolas" pitchFamily="34" charset="-122"/>
                <a:cs typeface="Consolas" pitchFamily="34" charset="-120"/>
              </a:rPr>
              <a:t>INNOVATION</a:t>
            </a:r>
            <a:endParaRPr lang="en-US" sz="1200" dirty="0"/>
          </a:p>
        </p:txBody>
      </p:sp>
      <p:sp>
        <p:nvSpPr>
          <p:cNvPr id="3" name="Text 1"/>
          <p:cNvSpPr/>
          <p:nvPr/>
        </p:nvSpPr>
        <p:spPr>
          <a:xfrm>
            <a:off x="548640" y="713232"/>
            <a:ext cx="10881360" cy="822960"/>
          </a:xfrm>
          <a:prstGeom prst="rect">
            <a:avLst/>
          </a:prstGeom>
          <a:noFill/>
          <a:ln/>
        </p:spPr>
        <p:txBody>
          <a:bodyPr wrap="square" rtlCol="0" anchor="ctr"/>
          <a:lstStyle/>
          <a:p>
            <a:pPr indent="0" marL="0">
              <a:buNone/>
            </a:pPr>
            <a:r>
              <a:rPr lang="en-US" sz="3200" b="1" dirty="0">
                <a:solidFill>
                  <a:srgbClr val="F1F5F9"/>
                </a:solidFill>
                <a:latin typeface="Arial" pitchFamily="34" charset="0"/>
                <a:ea typeface="Arial" pitchFamily="34" charset="-122"/>
                <a:cs typeface="Arial" pitchFamily="34" charset="-120"/>
              </a:rPr>
              <a:t>What Makes This Different</a:t>
            </a:r>
            <a:endParaRPr lang="en-US" sz="3200" dirty="0"/>
          </a:p>
        </p:txBody>
      </p:sp>
      <p:sp>
        <p:nvSpPr>
          <p:cNvPr id="4" name="Shape 2"/>
          <p:cNvSpPr/>
          <p:nvPr/>
        </p:nvSpPr>
        <p:spPr>
          <a:xfrm>
            <a:off x="548640" y="1920240"/>
            <a:ext cx="3483864" cy="4114800"/>
          </a:xfrm>
          <a:prstGeom prst="roundRect">
            <a:avLst>
              <a:gd name="adj" fmla="val 2100"/>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5" name="Image 0" descr="/home/claude/aadfa_deck_v2/icons/network.png">    </p:cNvPr>
          <p:cNvPicPr>
            <a:picLocks noChangeAspect="1"/>
          </p:cNvPicPr>
          <p:nvPr/>
        </p:nvPicPr>
        <p:blipFill>
          <a:blip r:embed="rId1"/>
          <a:stretch>
            <a:fillRect/>
          </a:stretch>
        </p:blipFill>
        <p:spPr>
          <a:xfrm>
            <a:off x="1970532" y="2331720"/>
            <a:ext cx="640080" cy="640080"/>
          </a:xfrm>
          <a:prstGeom prst="rect">
            <a:avLst/>
          </a:prstGeom>
        </p:spPr>
      </p:pic>
      <p:sp>
        <p:nvSpPr>
          <p:cNvPr id="6" name="Text 3"/>
          <p:cNvSpPr/>
          <p:nvPr/>
        </p:nvSpPr>
        <p:spPr>
          <a:xfrm>
            <a:off x="822960" y="3200400"/>
            <a:ext cx="2935224" cy="822960"/>
          </a:xfrm>
          <a:prstGeom prst="rect">
            <a:avLst/>
          </a:prstGeom>
          <a:noFill/>
          <a:ln/>
        </p:spPr>
        <p:txBody>
          <a:bodyPr wrap="square" rtlCol="0" anchor="t"/>
          <a:lstStyle/>
          <a:p>
            <a:pPr algn="ctr" indent="0" marL="0">
              <a:buNone/>
            </a:pPr>
            <a:r>
              <a:rPr lang="en-US" sz="1550" b="1" dirty="0">
                <a:solidFill>
                  <a:srgbClr val="22D3EE"/>
                </a:solidFill>
                <a:latin typeface="Arial" pitchFamily="34" charset="0"/>
                <a:ea typeface="Arial" pitchFamily="34" charset="-122"/>
                <a:cs typeface="Arial" pitchFamily="34" charset="-120"/>
              </a:rPr>
              <a:t>Fully Air-Gapped Agentic AI</a:t>
            </a:r>
            <a:endParaRPr lang="en-US" sz="1550" dirty="0"/>
          </a:p>
        </p:txBody>
      </p:sp>
      <p:sp>
        <p:nvSpPr>
          <p:cNvPr id="7" name="Text 4"/>
          <p:cNvSpPr/>
          <p:nvPr/>
        </p:nvSpPr>
        <p:spPr>
          <a:xfrm>
            <a:off x="868680" y="4069080"/>
            <a:ext cx="2843784" cy="1737360"/>
          </a:xfrm>
          <a:prstGeom prst="rect">
            <a:avLst/>
          </a:prstGeom>
          <a:noFill/>
          <a:ln/>
        </p:spPr>
        <p:txBody>
          <a:bodyPr wrap="square" rtlCol="0" anchor="ctr"/>
          <a:lstStyle/>
          <a:p>
            <a:pPr algn="ctr" indent="0" marL="0">
              <a:lnSpc>
                <a:spcPct val="125000"/>
              </a:lnSpc>
              <a:buNone/>
            </a:pPr>
            <a:r>
              <a:rPr lang="en-US" sz="1200" dirty="0">
                <a:solidFill>
                  <a:srgbClr val="94A3B8"/>
                </a:solidFill>
                <a:latin typeface="Arial" pitchFamily="34" charset="0"/>
                <a:ea typeface="Arial" pitchFamily="34" charset="-122"/>
                <a:cs typeface="Arial" pitchFamily="34" charset="-120"/>
              </a:rPr>
              <a:t>Most AI security tools call out to an external API. Ours never does — model, vector search, and data all stay on one box.</a:t>
            </a:r>
            <a:endParaRPr lang="en-US" sz="1200" dirty="0"/>
          </a:p>
        </p:txBody>
      </p:sp>
      <p:sp>
        <p:nvSpPr>
          <p:cNvPr id="8" name="Shape 5"/>
          <p:cNvSpPr/>
          <p:nvPr/>
        </p:nvSpPr>
        <p:spPr>
          <a:xfrm>
            <a:off x="4352544" y="1920240"/>
            <a:ext cx="3483864" cy="4114800"/>
          </a:xfrm>
          <a:prstGeom prst="roundRect">
            <a:avLst>
              <a:gd name="adj" fmla="val 2100"/>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9" name="Image 1" descr="/home/claude/aadfa_deck_v2/icons/fingerprint.png">    </p:cNvPr>
          <p:cNvPicPr>
            <a:picLocks noChangeAspect="1"/>
          </p:cNvPicPr>
          <p:nvPr/>
        </p:nvPicPr>
        <p:blipFill>
          <a:blip r:embed="rId2"/>
          <a:stretch>
            <a:fillRect/>
          </a:stretch>
        </p:blipFill>
        <p:spPr>
          <a:xfrm>
            <a:off x="5774436" y="2331720"/>
            <a:ext cx="640080" cy="640080"/>
          </a:xfrm>
          <a:prstGeom prst="rect">
            <a:avLst/>
          </a:prstGeom>
        </p:spPr>
      </p:pic>
      <p:sp>
        <p:nvSpPr>
          <p:cNvPr id="10" name="Text 6"/>
          <p:cNvSpPr/>
          <p:nvPr/>
        </p:nvSpPr>
        <p:spPr>
          <a:xfrm>
            <a:off x="4626864" y="3200400"/>
            <a:ext cx="2935224" cy="822960"/>
          </a:xfrm>
          <a:prstGeom prst="rect">
            <a:avLst/>
          </a:prstGeom>
          <a:noFill/>
          <a:ln/>
        </p:spPr>
        <p:txBody>
          <a:bodyPr wrap="square" rtlCol="0" anchor="t"/>
          <a:lstStyle/>
          <a:p>
            <a:pPr algn="ctr" indent="0" marL="0">
              <a:buNone/>
            </a:pPr>
            <a:r>
              <a:rPr lang="en-US" sz="1550" b="1" dirty="0">
                <a:solidFill>
                  <a:srgbClr val="22D3EE"/>
                </a:solidFill>
                <a:latin typeface="Arial" pitchFamily="34" charset="0"/>
                <a:ea typeface="Arial" pitchFamily="34" charset="-122"/>
                <a:cs typeface="Arial" pitchFamily="34" charset="-120"/>
              </a:rPr>
              <a:t>AI Output, Cryptographically Verifiable</a:t>
            </a:r>
            <a:endParaRPr lang="en-US" sz="1550" dirty="0"/>
          </a:p>
        </p:txBody>
      </p:sp>
      <p:sp>
        <p:nvSpPr>
          <p:cNvPr id="11" name="Text 7"/>
          <p:cNvSpPr/>
          <p:nvPr/>
        </p:nvSpPr>
        <p:spPr>
          <a:xfrm>
            <a:off x="4672584" y="4069080"/>
            <a:ext cx="2843784" cy="1737360"/>
          </a:xfrm>
          <a:prstGeom prst="rect">
            <a:avLst/>
          </a:prstGeom>
          <a:noFill/>
          <a:ln/>
        </p:spPr>
        <p:txBody>
          <a:bodyPr wrap="square" rtlCol="0" anchor="ctr"/>
          <a:lstStyle/>
          <a:p>
            <a:pPr algn="ctr" indent="0" marL="0">
              <a:lnSpc>
                <a:spcPct val="125000"/>
              </a:lnSpc>
              <a:buNone/>
            </a:pPr>
            <a:r>
              <a:rPr lang="en-US" sz="1200" dirty="0">
                <a:solidFill>
                  <a:srgbClr val="94A3B8"/>
                </a:solidFill>
                <a:latin typeface="Arial" pitchFamily="34" charset="0"/>
                <a:ea typeface="Arial" pitchFamily="34" charset="-122"/>
                <a:cs typeface="Arial" pitchFamily="34" charset="-120"/>
              </a:rPr>
              <a:t>Every generated report carries a SHA-256 chain-of-custody hash, so an AI-written finding can stand up as evidence — not just a summary.</a:t>
            </a:r>
            <a:endParaRPr lang="en-US" sz="1200" dirty="0"/>
          </a:p>
        </p:txBody>
      </p:sp>
      <p:sp>
        <p:nvSpPr>
          <p:cNvPr id="12" name="Shape 8"/>
          <p:cNvSpPr/>
          <p:nvPr/>
        </p:nvSpPr>
        <p:spPr>
          <a:xfrm>
            <a:off x="8156448" y="1920240"/>
            <a:ext cx="3483864" cy="4114800"/>
          </a:xfrm>
          <a:prstGeom prst="roundRect">
            <a:avLst>
              <a:gd name="adj" fmla="val 2100"/>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13" name="Image 2" descr="/home/claude/aadfa_deck_v2/icons/database.png">    </p:cNvPr>
          <p:cNvPicPr>
            <a:picLocks noChangeAspect="1"/>
          </p:cNvPicPr>
          <p:nvPr/>
        </p:nvPicPr>
        <p:blipFill>
          <a:blip r:embed="rId3"/>
          <a:stretch>
            <a:fillRect/>
          </a:stretch>
        </p:blipFill>
        <p:spPr>
          <a:xfrm>
            <a:off x="9578340" y="2331720"/>
            <a:ext cx="640080" cy="640080"/>
          </a:xfrm>
          <a:prstGeom prst="rect">
            <a:avLst/>
          </a:prstGeom>
        </p:spPr>
      </p:pic>
      <p:sp>
        <p:nvSpPr>
          <p:cNvPr id="14" name="Text 9"/>
          <p:cNvSpPr/>
          <p:nvPr/>
        </p:nvSpPr>
        <p:spPr>
          <a:xfrm>
            <a:off x="8430768" y="3200400"/>
            <a:ext cx="2935224" cy="822960"/>
          </a:xfrm>
          <a:prstGeom prst="rect">
            <a:avLst/>
          </a:prstGeom>
          <a:noFill/>
          <a:ln/>
        </p:spPr>
        <p:txBody>
          <a:bodyPr wrap="square" rtlCol="0" anchor="t"/>
          <a:lstStyle/>
          <a:p>
            <a:pPr algn="ctr" indent="0" marL="0">
              <a:buNone/>
            </a:pPr>
            <a:r>
              <a:rPr lang="en-US" sz="1550" b="1" dirty="0">
                <a:solidFill>
                  <a:srgbClr val="22D3EE"/>
                </a:solidFill>
                <a:latin typeface="Arial" pitchFamily="34" charset="0"/>
                <a:ea typeface="Arial" pitchFamily="34" charset="-122"/>
                <a:cs typeface="Arial" pitchFamily="34" charset="-120"/>
              </a:rPr>
              <a:t>RAG as Institutional Memory</a:t>
            </a:r>
            <a:endParaRPr lang="en-US" sz="1550" dirty="0"/>
          </a:p>
        </p:txBody>
      </p:sp>
      <p:sp>
        <p:nvSpPr>
          <p:cNvPr id="15" name="Text 10"/>
          <p:cNvSpPr/>
          <p:nvPr/>
        </p:nvSpPr>
        <p:spPr>
          <a:xfrm>
            <a:off x="8476488" y="4069080"/>
            <a:ext cx="2843784" cy="1737360"/>
          </a:xfrm>
          <a:prstGeom prst="rect">
            <a:avLst/>
          </a:prstGeom>
          <a:noFill/>
          <a:ln/>
        </p:spPr>
        <p:txBody>
          <a:bodyPr wrap="square" rtlCol="0" anchor="ctr"/>
          <a:lstStyle/>
          <a:p>
            <a:pPr algn="ctr" indent="0" marL="0">
              <a:lnSpc>
                <a:spcPct val="125000"/>
              </a:lnSpc>
              <a:buNone/>
            </a:pPr>
            <a:r>
              <a:rPr lang="en-US" sz="1200" dirty="0">
                <a:solidFill>
                  <a:srgbClr val="94A3B8"/>
                </a:solidFill>
                <a:latin typeface="Arial" pitchFamily="34" charset="0"/>
                <a:ea typeface="Arial" pitchFamily="34" charset="-122"/>
                <a:cs typeface="Arial" pitchFamily="34" charset="-120"/>
              </a:rPr>
              <a:t>The system gets contextually sharper with every incident it sees — without ever retraining the underlying model.</a:t>
            </a:r>
            <a:endParaRPr lang="en-US" sz="1200" dirty="0"/>
          </a:p>
        </p:txBody>
      </p:sp>
      <p:sp>
        <p:nvSpPr>
          <p:cNvPr id="16" name="Text 11"/>
          <p:cNvSpPr/>
          <p:nvPr/>
        </p:nvSpPr>
        <p:spPr>
          <a:xfrm>
            <a:off x="11548872" y="6473952"/>
            <a:ext cx="457200" cy="274320"/>
          </a:xfrm>
          <a:prstGeom prst="rect">
            <a:avLst/>
          </a:prstGeom>
          <a:noFill/>
          <a:ln/>
        </p:spPr>
        <p:txBody>
          <a:bodyPr wrap="square" rtlCol="0" anchor="ctr"/>
          <a:lstStyle/>
          <a:p>
            <a:pPr algn="r" indent="0" marL="0">
              <a:buNone/>
            </a:pPr>
            <a:r>
              <a:rPr lang="en-US" sz="900" dirty="0">
                <a:solidFill>
                  <a:srgbClr val="5B6576"/>
                </a:solidFill>
                <a:latin typeface="Consolas" pitchFamily="34" charset="0"/>
                <a:ea typeface="Consolas" pitchFamily="34" charset="-122"/>
                <a:cs typeface="Consolas"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4"/>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200" kern="0" dirty="0">
                <a:solidFill>
                  <a:srgbClr val="22D3EE"/>
                </a:solidFill>
                <a:latin typeface="Consolas" pitchFamily="34" charset="0"/>
                <a:ea typeface="Consolas" pitchFamily="34" charset="-122"/>
                <a:cs typeface="Consolas" pitchFamily="34" charset="-120"/>
              </a:rPr>
              <a:t>HOW IT WORKS</a:t>
            </a:r>
            <a:endParaRPr lang="en-US" sz="1200" dirty="0"/>
          </a:p>
        </p:txBody>
      </p:sp>
      <p:sp>
        <p:nvSpPr>
          <p:cNvPr id="3" name="Text 1"/>
          <p:cNvSpPr/>
          <p:nvPr/>
        </p:nvSpPr>
        <p:spPr>
          <a:xfrm>
            <a:off x="548640" y="713232"/>
            <a:ext cx="10881360" cy="822960"/>
          </a:xfrm>
          <a:prstGeom prst="rect">
            <a:avLst/>
          </a:prstGeom>
          <a:noFill/>
          <a:ln/>
        </p:spPr>
        <p:txBody>
          <a:bodyPr wrap="square" rtlCol="0" anchor="ctr"/>
          <a:lstStyle/>
          <a:p>
            <a:pPr indent="0" marL="0">
              <a:buNone/>
            </a:pPr>
            <a:r>
              <a:rPr lang="en-US" sz="3200" b="1" dirty="0">
                <a:solidFill>
                  <a:srgbClr val="F1F5F9"/>
                </a:solidFill>
                <a:latin typeface="Arial" pitchFamily="34" charset="0"/>
                <a:ea typeface="Arial" pitchFamily="34" charset="-122"/>
                <a:cs typeface="Arial" pitchFamily="34" charset="-120"/>
              </a:rPr>
              <a:t>From Upload to Report</a:t>
            </a:r>
            <a:endParaRPr lang="en-US" sz="3200" dirty="0"/>
          </a:p>
        </p:txBody>
      </p:sp>
      <p:sp>
        <p:nvSpPr>
          <p:cNvPr id="4" name="Text 2"/>
          <p:cNvSpPr/>
          <p:nvPr/>
        </p:nvSpPr>
        <p:spPr>
          <a:xfrm>
            <a:off x="548640" y="1737360"/>
            <a:ext cx="11064240" cy="1463040"/>
          </a:xfrm>
          <a:prstGeom prst="rect">
            <a:avLst/>
          </a:prstGeom>
          <a:noFill/>
          <a:ln/>
        </p:spPr>
        <p:txBody>
          <a:bodyPr wrap="square" rtlCol="0" anchor="t"/>
          <a:lstStyle/>
          <a:p>
            <a:pPr marL="342900" indent="-342900">
              <a:lnSpc>
                <a:spcPct val="115000"/>
              </a:lnSpc>
              <a:spcAft>
                <a:spcPts val="1000"/>
              </a:spcAft>
              <a:buSzPct val="100000"/>
              <a:buChar char="•"/>
            </a:pPr>
            <a:r>
              <a:rPr lang="en-US" sz="1500" dirty="0">
                <a:solidFill>
                  <a:srgbClr val="F1F5F9"/>
                </a:solidFill>
                <a:latin typeface="Arial" pitchFamily="34" charset="0"/>
                <a:ea typeface="Arial" pitchFamily="34" charset="-122"/>
                <a:cs typeface="Arial" pitchFamily="34" charset="-120"/>
              </a:rPr>
              <a:t>Upload triggers parsing into structured events, then Llama 3 — running locally — analyzes them and writes the report.</a:t>
            </a:r>
            <a:endParaRPr lang="en-US" sz="1500" dirty="0"/>
          </a:p>
          <a:p>
            <a:pPr marL="342900" indent="-342900">
              <a:lnSpc>
                <a:spcPct val="115000"/>
              </a:lnSpc>
              <a:spcAft>
                <a:spcPts val="1000"/>
              </a:spcAft>
              <a:buSzPct val="100000"/>
              <a:buChar char="•"/>
            </a:pPr>
            <a:r>
              <a:rPr lang="en-US" sz="1500" dirty="0">
                <a:solidFill>
                  <a:srgbClr val="F1F5F9"/>
                </a:solidFill>
                <a:latin typeface="Arial" pitchFamily="34" charset="0"/>
                <a:ea typeface="Arial" pitchFamily="34" charset="-122"/>
                <a:cs typeface="Arial" pitchFamily="34" charset="-120"/>
              </a:rPr>
              <a:t>The AI cross-references similar past incidents through a vector database (RAG) before finalizing its findings.</a:t>
            </a:r>
            <a:endParaRPr lang="en-US" sz="1500" dirty="0"/>
          </a:p>
          <a:p>
            <a:pPr marL="342900" indent="-342900">
              <a:lnSpc>
                <a:spcPct val="115000"/>
              </a:lnSpc>
              <a:spcAft>
                <a:spcPts val="1000"/>
              </a:spcAft>
              <a:buSzPct val="100000"/>
              <a:buChar char="•"/>
            </a:pPr>
            <a:r>
              <a:rPr lang="en-US" sz="1500" dirty="0">
                <a:solidFill>
                  <a:srgbClr val="F1F5F9"/>
                </a:solidFill>
                <a:latin typeface="Arial" pitchFamily="34" charset="0"/>
                <a:ea typeface="Arial" pitchFamily="34" charset="-122"/>
                <a:cs typeface="Arial" pitchFamily="34" charset="-120"/>
              </a:rPr>
              <a:t>Thirty seconds to two minutes, start to finish.</a:t>
            </a:r>
            <a:endParaRPr lang="en-US" sz="1500" dirty="0"/>
          </a:p>
        </p:txBody>
      </p:sp>
      <p:sp>
        <p:nvSpPr>
          <p:cNvPr id="5" name="Shape 3"/>
          <p:cNvSpPr/>
          <p:nvPr/>
        </p:nvSpPr>
        <p:spPr>
          <a:xfrm>
            <a:off x="548640" y="3657600"/>
            <a:ext cx="2035454" cy="2148840"/>
          </a:xfrm>
          <a:prstGeom prst="roundRect">
            <a:avLst>
              <a:gd name="adj" fmla="val 3594"/>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6" name="Image 0" descr="/home/claude/aadfa_deck_v2/icons/upload.png">    </p:cNvPr>
          <p:cNvPicPr>
            <a:picLocks noChangeAspect="1"/>
          </p:cNvPicPr>
          <p:nvPr/>
        </p:nvPicPr>
        <p:blipFill>
          <a:blip r:embed="rId1"/>
          <a:stretch>
            <a:fillRect/>
          </a:stretch>
        </p:blipFill>
        <p:spPr>
          <a:xfrm>
            <a:off x="1273759" y="3977640"/>
            <a:ext cx="585216" cy="585216"/>
          </a:xfrm>
          <a:prstGeom prst="rect">
            <a:avLst/>
          </a:prstGeom>
        </p:spPr>
      </p:pic>
      <p:sp>
        <p:nvSpPr>
          <p:cNvPr id="7" name="Text 4"/>
          <p:cNvSpPr/>
          <p:nvPr/>
        </p:nvSpPr>
        <p:spPr>
          <a:xfrm>
            <a:off x="640080" y="4754880"/>
            <a:ext cx="1852574" cy="868680"/>
          </a:xfrm>
          <a:prstGeom prst="rect">
            <a:avLst/>
          </a:prstGeom>
          <a:noFill/>
          <a:ln/>
        </p:spPr>
        <p:txBody>
          <a:bodyPr wrap="square" rtlCol="0" anchor="t"/>
          <a:lstStyle/>
          <a:p>
            <a:pPr algn="ctr" indent="0" marL="0">
              <a:buNone/>
            </a:pPr>
            <a:r>
              <a:rPr lang="en-US" sz="1250" b="1" dirty="0">
                <a:solidFill>
                  <a:srgbClr val="F1F5F9"/>
                </a:solidFill>
                <a:latin typeface="Arial" pitchFamily="34" charset="0"/>
                <a:ea typeface="Arial" pitchFamily="34" charset="-122"/>
                <a:cs typeface="Arial" pitchFamily="34" charset="-120"/>
              </a:rPr>
              <a:t>Upload Log</a:t>
            </a:r>
            <a:endParaRPr lang="en-US" sz="1250" dirty="0"/>
          </a:p>
        </p:txBody>
      </p:sp>
      <p:sp>
        <p:nvSpPr>
          <p:cNvPr id="8" name="Shape 5"/>
          <p:cNvSpPr/>
          <p:nvPr/>
        </p:nvSpPr>
        <p:spPr>
          <a:xfrm>
            <a:off x="2584094" y="4722876"/>
            <a:ext cx="228600" cy="0"/>
          </a:xfrm>
          <a:prstGeom prst="line">
            <a:avLst/>
          </a:prstGeom>
          <a:noFill/>
          <a:ln w="19050">
            <a:solidFill>
              <a:srgbClr val="5B6576"/>
            </a:solidFill>
            <a:prstDash val="solid"/>
            <a:tailEnd type="triangle"/>
          </a:ln>
        </p:spPr>
      </p:sp>
      <p:sp>
        <p:nvSpPr>
          <p:cNvPr id="9" name="Shape 6"/>
          <p:cNvSpPr/>
          <p:nvPr/>
        </p:nvSpPr>
        <p:spPr>
          <a:xfrm>
            <a:off x="2812694" y="3657600"/>
            <a:ext cx="2035454" cy="2148840"/>
          </a:xfrm>
          <a:prstGeom prst="roundRect">
            <a:avLst>
              <a:gd name="adj" fmla="val 3594"/>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10" name="Image 1" descr="/home/claude/aadfa_deck_v2/icons/listTree.png">    </p:cNvPr>
          <p:cNvPicPr>
            <a:picLocks noChangeAspect="1"/>
          </p:cNvPicPr>
          <p:nvPr/>
        </p:nvPicPr>
        <p:blipFill>
          <a:blip r:embed="rId2"/>
          <a:stretch>
            <a:fillRect/>
          </a:stretch>
        </p:blipFill>
        <p:spPr>
          <a:xfrm>
            <a:off x="3537814" y="3977640"/>
            <a:ext cx="585216" cy="585216"/>
          </a:xfrm>
          <a:prstGeom prst="rect">
            <a:avLst/>
          </a:prstGeom>
        </p:spPr>
      </p:pic>
      <p:sp>
        <p:nvSpPr>
          <p:cNvPr id="11" name="Text 7"/>
          <p:cNvSpPr/>
          <p:nvPr/>
        </p:nvSpPr>
        <p:spPr>
          <a:xfrm>
            <a:off x="2904134" y="4754880"/>
            <a:ext cx="1852574" cy="868680"/>
          </a:xfrm>
          <a:prstGeom prst="rect">
            <a:avLst/>
          </a:prstGeom>
          <a:noFill/>
          <a:ln/>
        </p:spPr>
        <p:txBody>
          <a:bodyPr wrap="square" rtlCol="0" anchor="t"/>
          <a:lstStyle/>
          <a:p>
            <a:pPr algn="ctr" indent="0" marL="0">
              <a:buNone/>
            </a:pPr>
            <a:r>
              <a:rPr lang="en-US" sz="1250" b="1" dirty="0">
                <a:solidFill>
                  <a:srgbClr val="F1F5F9"/>
                </a:solidFill>
                <a:latin typeface="Arial" pitchFamily="34" charset="0"/>
                <a:ea typeface="Arial" pitchFamily="34" charset="-122"/>
                <a:cs typeface="Arial" pitchFamily="34" charset="-120"/>
              </a:rPr>
              <a:t>Parse Data</a:t>
            </a:r>
            <a:endParaRPr lang="en-US" sz="1250" dirty="0"/>
          </a:p>
        </p:txBody>
      </p:sp>
      <p:sp>
        <p:nvSpPr>
          <p:cNvPr id="12" name="Shape 8"/>
          <p:cNvSpPr/>
          <p:nvPr/>
        </p:nvSpPr>
        <p:spPr>
          <a:xfrm>
            <a:off x="4848149" y="4722876"/>
            <a:ext cx="228600" cy="0"/>
          </a:xfrm>
          <a:prstGeom prst="line">
            <a:avLst/>
          </a:prstGeom>
          <a:noFill/>
          <a:ln w="19050">
            <a:solidFill>
              <a:srgbClr val="5B6576"/>
            </a:solidFill>
            <a:prstDash val="solid"/>
            <a:tailEnd type="triangle"/>
          </a:ln>
        </p:spPr>
      </p:sp>
      <p:sp>
        <p:nvSpPr>
          <p:cNvPr id="13" name="Shape 9"/>
          <p:cNvSpPr/>
          <p:nvPr/>
        </p:nvSpPr>
        <p:spPr>
          <a:xfrm>
            <a:off x="5076749" y="3657600"/>
            <a:ext cx="2035454" cy="2148840"/>
          </a:xfrm>
          <a:prstGeom prst="roundRect">
            <a:avLst>
              <a:gd name="adj" fmla="val 3594"/>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14" name="Image 2" descr="/home/claude/aadfa_deck_v2/icons/bot.png">    </p:cNvPr>
          <p:cNvPicPr>
            <a:picLocks noChangeAspect="1"/>
          </p:cNvPicPr>
          <p:nvPr/>
        </p:nvPicPr>
        <p:blipFill>
          <a:blip r:embed="rId3"/>
          <a:stretch>
            <a:fillRect/>
          </a:stretch>
        </p:blipFill>
        <p:spPr>
          <a:xfrm>
            <a:off x="5801868" y="3977640"/>
            <a:ext cx="585216" cy="585216"/>
          </a:xfrm>
          <a:prstGeom prst="rect">
            <a:avLst/>
          </a:prstGeom>
        </p:spPr>
      </p:pic>
      <p:sp>
        <p:nvSpPr>
          <p:cNvPr id="15" name="Text 10"/>
          <p:cNvSpPr/>
          <p:nvPr/>
        </p:nvSpPr>
        <p:spPr>
          <a:xfrm>
            <a:off x="5168189" y="4754880"/>
            <a:ext cx="1852574" cy="868680"/>
          </a:xfrm>
          <a:prstGeom prst="rect">
            <a:avLst/>
          </a:prstGeom>
          <a:noFill/>
          <a:ln/>
        </p:spPr>
        <p:txBody>
          <a:bodyPr wrap="square" rtlCol="0" anchor="t"/>
          <a:lstStyle/>
          <a:p>
            <a:pPr algn="ctr" indent="0" marL="0">
              <a:buNone/>
            </a:pPr>
            <a:r>
              <a:rPr lang="en-US" sz="1250" b="1" dirty="0">
                <a:solidFill>
                  <a:srgbClr val="F1F5F9"/>
                </a:solidFill>
                <a:latin typeface="Arial" pitchFamily="34" charset="0"/>
                <a:ea typeface="Arial" pitchFamily="34" charset="-122"/>
                <a:cs typeface="Arial" pitchFamily="34" charset="-120"/>
              </a:rPr>
              <a:t>AI Analyzes</a:t>
            </a:r>
            <a:endParaRPr lang="en-US" sz="1250" dirty="0"/>
          </a:p>
          <a:p>
            <a:pPr algn="ctr" indent="0" marL="0">
              <a:buNone/>
            </a:pPr>
            <a:r>
              <a:rPr lang="en-US" sz="1250" b="1" dirty="0">
                <a:solidFill>
                  <a:srgbClr val="F1F5F9"/>
                </a:solidFill>
                <a:latin typeface="Arial" pitchFamily="34" charset="0"/>
                <a:ea typeface="Arial" pitchFamily="34" charset="-122"/>
                <a:cs typeface="Arial" pitchFamily="34" charset="-120"/>
              </a:rPr>
              <a:t>(Local Llama 3)</a:t>
            </a:r>
            <a:endParaRPr lang="en-US" sz="1250" dirty="0"/>
          </a:p>
        </p:txBody>
      </p:sp>
      <p:sp>
        <p:nvSpPr>
          <p:cNvPr id="16" name="Shape 11"/>
          <p:cNvSpPr/>
          <p:nvPr/>
        </p:nvSpPr>
        <p:spPr>
          <a:xfrm>
            <a:off x="7112203" y="4722876"/>
            <a:ext cx="228600" cy="0"/>
          </a:xfrm>
          <a:prstGeom prst="line">
            <a:avLst/>
          </a:prstGeom>
          <a:noFill/>
          <a:ln w="19050">
            <a:solidFill>
              <a:srgbClr val="5B6576"/>
            </a:solidFill>
            <a:prstDash val="solid"/>
            <a:tailEnd type="triangle"/>
          </a:ln>
        </p:spPr>
      </p:sp>
      <p:sp>
        <p:nvSpPr>
          <p:cNvPr id="17" name="Shape 12"/>
          <p:cNvSpPr/>
          <p:nvPr/>
        </p:nvSpPr>
        <p:spPr>
          <a:xfrm>
            <a:off x="7340803" y="3657600"/>
            <a:ext cx="2035454" cy="2148840"/>
          </a:xfrm>
          <a:prstGeom prst="roundRect">
            <a:avLst>
              <a:gd name="adj" fmla="val 3594"/>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18" name="Image 3" descr="/home/claude/aadfa_deck_v2/icons/database.png">    </p:cNvPr>
          <p:cNvPicPr>
            <a:picLocks noChangeAspect="1"/>
          </p:cNvPicPr>
          <p:nvPr/>
        </p:nvPicPr>
        <p:blipFill>
          <a:blip r:embed="rId4"/>
          <a:stretch>
            <a:fillRect/>
          </a:stretch>
        </p:blipFill>
        <p:spPr>
          <a:xfrm>
            <a:off x="8065922" y="3977640"/>
            <a:ext cx="585216" cy="585216"/>
          </a:xfrm>
          <a:prstGeom prst="rect">
            <a:avLst/>
          </a:prstGeom>
        </p:spPr>
      </p:pic>
      <p:sp>
        <p:nvSpPr>
          <p:cNvPr id="19" name="Text 13"/>
          <p:cNvSpPr/>
          <p:nvPr/>
        </p:nvSpPr>
        <p:spPr>
          <a:xfrm>
            <a:off x="7432243" y="4754880"/>
            <a:ext cx="1852574" cy="868680"/>
          </a:xfrm>
          <a:prstGeom prst="rect">
            <a:avLst/>
          </a:prstGeom>
          <a:noFill/>
          <a:ln/>
        </p:spPr>
        <p:txBody>
          <a:bodyPr wrap="square" rtlCol="0" anchor="t"/>
          <a:lstStyle/>
          <a:p>
            <a:pPr algn="ctr" indent="0" marL="0">
              <a:buNone/>
            </a:pPr>
            <a:r>
              <a:rPr lang="en-US" sz="1250" b="1" dirty="0">
                <a:solidFill>
                  <a:srgbClr val="F1F5F9"/>
                </a:solidFill>
                <a:latin typeface="Arial" pitchFamily="34" charset="0"/>
                <a:ea typeface="Arial" pitchFamily="34" charset="-122"/>
                <a:cs typeface="Arial" pitchFamily="34" charset="-120"/>
              </a:rPr>
              <a:t>Check Past Records</a:t>
            </a:r>
            <a:endParaRPr lang="en-US" sz="1250" dirty="0"/>
          </a:p>
          <a:p>
            <a:pPr algn="ctr" indent="0" marL="0">
              <a:buNone/>
            </a:pPr>
            <a:r>
              <a:rPr lang="en-US" sz="1250" b="1" dirty="0">
                <a:solidFill>
                  <a:srgbClr val="F1F5F9"/>
                </a:solidFill>
                <a:latin typeface="Arial" pitchFamily="34" charset="0"/>
                <a:ea typeface="Arial" pitchFamily="34" charset="-122"/>
                <a:cs typeface="Arial" pitchFamily="34" charset="-120"/>
              </a:rPr>
              <a:t>(RAG)</a:t>
            </a:r>
            <a:endParaRPr lang="en-US" sz="1250" dirty="0"/>
          </a:p>
        </p:txBody>
      </p:sp>
      <p:sp>
        <p:nvSpPr>
          <p:cNvPr id="20" name="Shape 14"/>
          <p:cNvSpPr/>
          <p:nvPr/>
        </p:nvSpPr>
        <p:spPr>
          <a:xfrm>
            <a:off x="9376258" y="4722876"/>
            <a:ext cx="228600" cy="0"/>
          </a:xfrm>
          <a:prstGeom prst="line">
            <a:avLst/>
          </a:prstGeom>
          <a:noFill/>
          <a:ln w="19050">
            <a:solidFill>
              <a:srgbClr val="5B6576"/>
            </a:solidFill>
            <a:prstDash val="solid"/>
            <a:tailEnd type="triangle"/>
          </a:ln>
        </p:spPr>
      </p:sp>
      <p:sp>
        <p:nvSpPr>
          <p:cNvPr id="21" name="Shape 15"/>
          <p:cNvSpPr/>
          <p:nvPr/>
        </p:nvSpPr>
        <p:spPr>
          <a:xfrm>
            <a:off x="9604858" y="3657600"/>
            <a:ext cx="2035454" cy="2148840"/>
          </a:xfrm>
          <a:prstGeom prst="roundRect">
            <a:avLst>
              <a:gd name="adj" fmla="val 3594"/>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22" name="Image 4" descr="/home/claude/aadfa_deck_v2/icons/fileCheck.png">    </p:cNvPr>
          <p:cNvPicPr>
            <a:picLocks noChangeAspect="1"/>
          </p:cNvPicPr>
          <p:nvPr/>
        </p:nvPicPr>
        <p:blipFill>
          <a:blip r:embed="rId5"/>
          <a:stretch>
            <a:fillRect/>
          </a:stretch>
        </p:blipFill>
        <p:spPr>
          <a:xfrm>
            <a:off x="10329977" y="3977640"/>
            <a:ext cx="585216" cy="585216"/>
          </a:xfrm>
          <a:prstGeom prst="rect">
            <a:avLst/>
          </a:prstGeom>
        </p:spPr>
      </p:pic>
      <p:sp>
        <p:nvSpPr>
          <p:cNvPr id="23" name="Text 16"/>
          <p:cNvSpPr/>
          <p:nvPr/>
        </p:nvSpPr>
        <p:spPr>
          <a:xfrm>
            <a:off x="9696298" y="4754880"/>
            <a:ext cx="1852574" cy="868680"/>
          </a:xfrm>
          <a:prstGeom prst="rect">
            <a:avLst/>
          </a:prstGeom>
          <a:noFill/>
          <a:ln/>
        </p:spPr>
        <p:txBody>
          <a:bodyPr wrap="square" rtlCol="0" anchor="t"/>
          <a:lstStyle/>
          <a:p>
            <a:pPr algn="ctr" indent="0" marL="0">
              <a:buNone/>
            </a:pPr>
            <a:r>
              <a:rPr lang="en-US" sz="1250" b="1" dirty="0">
                <a:solidFill>
                  <a:srgbClr val="F1F5F9"/>
                </a:solidFill>
                <a:latin typeface="Arial" pitchFamily="34" charset="0"/>
                <a:ea typeface="Arial" pitchFamily="34" charset="-122"/>
                <a:cs typeface="Arial" pitchFamily="34" charset="-120"/>
              </a:rPr>
              <a:t>Report Ready</a:t>
            </a:r>
            <a:endParaRPr lang="en-US" sz="1250" dirty="0"/>
          </a:p>
          <a:p>
            <a:pPr algn="ctr" indent="0" marL="0">
              <a:buNone/>
            </a:pPr>
            <a:r>
              <a:rPr lang="en-US" sz="1250" b="1" dirty="0">
                <a:solidFill>
                  <a:srgbClr val="F1F5F9"/>
                </a:solidFill>
                <a:latin typeface="Arial" pitchFamily="34" charset="0"/>
                <a:ea typeface="Arial" pitchFamily="34" charset="-122"/>
                <a:cs typeface="Arial" pitchFamily="34" charset="-120"/>
              </a:rPr>
              <a:t>30–120 sec</a:t>
            </a:r>
            <a:endParaRPr lang="en-US" sz="1250" dirty="0"/>
          </a:p>
        </p:txBody>
      </p:sp>
      <p:sp>
        <p:nvSpPr>
          <p:cNvPr id="24" name="Text 17"/>
          <p:cNvSpPr/>
          <p:nvPr/>
        </p:nvSpPr>
        <p:spPr>
          <a:xfrm>
            <a:off x="11548872" y="6473952"/>
            <a:ext cx="457200" cy="274320"/>
          </a:xfrm>
          <a:prstGeom prst="rect">
            <a:avLst/>
          </a:prstGeom>
          <a:noFill/>
          <a:ln/>
        </p:spPr>
        <p:txBody>
          <a:bodyPr wrap="square" rtlCol="0" anchor="ctr"/>
          <a:lstStyle/>
          <a:p>
            <a:pPr algn="r" indent="0" marL="0">
              <a:buNone/>
            </a:pPr>
            <a:r>
              <a:rPr lang="en-US" sz="900" dirty="0">
                <a:solidFill>
                  <a:srgbClr val="5B6576"/>
                </a:solidFill>
                <a:latin typeface="Consolas" pitchFamily="34" charset="0"/>
                <a:ea typeface="Consolas" pitchFamily="34" charset="-122"/>
                <a:cs typeface="Consolas"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E14"/>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200" kern="0" dirty="0">
                <a:solidFill>
                  <a:srgbClr val="22D3EE"/>
                </a:solidFill>
                <a:latin typeface="Consolas" pitchFamily="34" charset="0"/>
                <a:ea typeface="Consolas" pitchFamily="34" charset="-122"/>
                <a:cs typeface="Consolas" pitchFamily="34" charset="-120"/>
              </a:rPr>
              <a:t>FOR THE TECHNICAL REVIEWERS</a:t>
            </a:r>
            <a:endParaRPr lang="en-US" sz="1200" dirty="0"/>
          </a:p>
        </p:txBody>
      </p:sp>
      <p:sp>
        <p:nvSpPr>
          <p:cNvPr id="3" name="Text 1"/>
          <p:cNvSpPr/>
          <p:nvPr/>
        </p:nvSpPr>
        <p:spPr>
          <a:xfrm>
            <a:off x="548640" y="713232"/>
            <a:ext cx="10881360" cy="822960"/>
          </a:xfrm>
          <a:prstGeom prst="rect">
            <a:avLst/>
          </a:prstGeom>
          <a:noFill/>
          <a:ln/>
        </p:spPr>
        <p:txBody>
          <a:bodyPr wrap="square" rtlCol="0" anchor="ctr"/>
          <a:lstStyle/>
          <a:p>
            <a:pPr indent="0" marL="0">
              <a:buNone/>
            </a:pPr>
            <a:r>
              <a:rPr lang="en-US" sz="3200" b="1" dirty="0">
                <a:solidFill>
                  <a:srgbClr val="F1F5F9"/>
                </a:solidFill>
                <a:latin typeface="Arial" pitchFamily="34" charset="0"/>
                <a:ea typeface="Arial" pitchFamily="34" charset="-122"/>
                <a:cs typeface="Arial" pitchFamily="34" charset="-120"/>
              </a:rPr>
              <a:t>Technical Architecture</a:t>
            </a:r>
            <a:endParaRPr lang="en-US" sz="3200" dirty="0"/>
          </a:p>
        </p:txBody>
      </p:sp>
      <p:sp>
        <p:nvSpPr>
          <p:cNvPr id="4" name="Text 2"/>
          <p:cNvSpPr/>
          <p:nvPr/>
        </p:nvSpPr>
        <p:spPr>
          <a:xfrm>
            <a:off x="548640" y="1691640"/>
            <a:ext cx="6035040" cy="4572000"/>
          </a:xfrm>
          <a:prstGeom prst="rect">
            <a:avLst/>
          </a:prstGeom>
          <a:noFill/>
          <a:ln/>
        </p:spPr>
        <p:txBody>
          <a:bodyPr wrap="square" rtlCol="0" anchor="t"/>
          <a:lstStyle/>
          <a:p>
            <a:pPr marL="342900" indent="-342900">
              <a:lnSpc>
                <a:spcPct val="115000"/>
              </a:lnSpc>
              <a:spcAft>
                <a:spcPts val="1200"/>
              </a:spcAft>
              <a:buSzPct val="100000"/>
              <a:buChar char="•"/>
            </a:pPr>
            <a:r>
              <a:rPr lang="en-US" sz="1400" dirty="0">
                <a:solidFill>
                  <a:srgbClr val="F1F5F9"/>
                </a:solidFill>
                <a:latin typeface="Arial" pitchFamily="34" charset="0"/>
                <a:ea typeface="Arial" pitchFamily="34" charset="-122"/>
                <a:cs typeface="Arial" pitchFamily="34" charset="-120"/>
              </a:rPr>
              <a:t>Next.js frontend, FastAPI backend, PostgreSQL for storage — a standard, well-understood web stack.</a:t>
            </a:r>
            <a:endParaRPr lang="en-US" sz="1400" dirty="0"/>
          </a:p>
          <a:p>
            <a:pPr marL="342900" indent="-342900">
              <a:lnSpc>
                <a:spcPct val="115000"/>
              </a:lnSpc>
              <a:spcAft>
                <a:spcPts val="1200"/>
              </a:spcAft>
              <a:buSzPct val="100000"/>
              <a:buChar char="•"/>
            </a:pPr>
            <a:r>
              <a:rPr lang="en-US" sz="1400" dirty="0">
                <a:solidFill>
                  <a:srgbClr val="F1F5F9"/>
                </a:solidFill>
                <a:latin typeface="Arial" pitchFamily="34" charset="0"/>
                <a:ea typeface="Arial" pitchFamily="34" charset="-122"/>
                <a:cs typeface="Arial" pitchFamily="34" charset="-120"/>
              </a:rPr>
              <a:t>Llama 3 through Ollama for local inference, ChromaDB for retrieval — both fully open-source, both self-hosted.</a:t>
            </a:r>
            <a:endParaRPr lang="en-US" sz="1400" dirty="0"/>
          </a:p>
          <a:p>
            <a:pPr marL="342900" indent="-342900">
              <a:lnSpc>
                <a:spcPct val="115000"/>
              </a:lnSpc>
              <a:spcAft>
                <a:spcPts val="1200"/>
              </a:spcAft>
              <a:buSzPct val="100000"/>
              <a:buChar char="•"/>
            </a:pPr>
            <a:r>
              <a:rPr lang="en-US" sz="1400" dirty="0">
                <a:solidFill>
                  <a:srgbClr val="F1F5F9"/>
                </a:solidFill>
                <a:latin typeface="Arial" pitchFamily="34" charset="0"/>
                <a:ea typeface="Arial" pitchFamily="34" charset="-122"/>
                <a:cs typeface="Arial" pitchFamily="34" charset="-120"/>
              </a:rPr>
              <a:t>PM2 keeps the application alive 24/7, on a single 16-core, 16 GB, 60 GB SSD Biznet VPS running Ubuntu.</a:t>
            </a:r>
            <a:endParaRPr lang="en-US" sz="1400" dirty="0"/>
          </a:p>
        </p:txBody>
      </p:sp>
      <p:sp>
        <p:nvSpPr>
          <p:cNvPr id="5" name="Shape 3"/>
          <p:cNvSpPr/>
          <p:nvPr/>
        </p:nvSpPr>
        <p:spPr>
          <a:xfrm>
            <a:off x="6903720" y="1737360"/>
            <a:ext cx="4709160" cy="4434840"/>
          </a:xfrm>
          <a:prstGeom prst="roundRect">
            <a:avLst>
              <a:gd name="adj" fmla="val 1649"/>
            </a:avLst>
          </a:prstGeom>
          <a:solidFill>
            <a:srgbClr val="0D1520"/>
          </a:solidFill>
          <a:ln w="15875">
            <a:solidFill>
              <a:srgbClr val="22D3EE"/>
            </a:solidFill>
            <a:prstDash val="dash"/>
          </a:ln>
        </p:spPr>
      </p:sp>
      <p:sp>
        <p:nvSpPr>
          <p:cNvPr id="6" name="Text 4"/>
          <p:cNvSpPr/>
          <p:nvPr/>
        </p:nvSpPr>
        <p:spPr>
          <a:xfrm>
            <a:off x="6903720" y="1874520"/>
            <a:ext cx="4709160" cy="274320"/>
          </a:xfrm>
          <a:prstGeom prst="rect">
            <a:avLst/>
          </a:prstGeom>
          <a:noFill/>
          <a:ln/>
        </p:spPr>
        <p:txBody>
          <a:bodyPr wrap="square" rtlCol="0" anchor="ctr"/>
          <a:lstStyle/>
          <a:p>
            <a:pPr algn="ctr" indent="0" marL="0">
              <a:buNone/>
            </a:pPr>
            <a:r>
              <a:rPr lang="en-US" sz="1000" b="1" spc="100" kern="0" dirty="0">
                <a:solidFill>
                  <a:srgbClr val="22D3EE"/>
                </a:solidFill>
                <a:latin typeface="Consolas" pitchFamily="34" charset="0"/>
                <a:ea typeface="Consolas" pitchFamily="34" charset="-122"/>
                <a:cs typeface="Consolas" pitchFamily="34" charset="-120"/>
              </a:rPr>
              <a:t>LTI SERVER — 16 vCPU / 16GB / 60GB SSD</a:t>
            </a:r>
            <a:endParaRPr lang="en-US" sz="1000" dirty="0"/>
          </a:p>
        </p:txBody>
      </p:sp>
      <p:sp>
        <p:nvSpPr>
          <p:cNvPr id="7" name="Shape 5"/>
          <p:cNvSpPr/>
          <p:nvPr/>
        </p:nvSpPr>
        <p:spPr>
          <a:xfrm>
            <a:off x="7223760" y="2286000"/>
            <a:ext cx="4069080" cy="566928"/>
          </a:xfrm>
          <a:prstGeom prst="roundRect">
            <a:avLst>
              <a:gd name="adj" fmla="val 12903"/>
            </a:avLst>
          </a:prstGeom>
          <a:solidFill>
            <a:srgbClr val="141A24"/>
          </a:solidFill>
          <a:ln w="12700">
            <a:solidFill>
              <a:srgbClr val="232B3A"/>
            </a:solidFill>
            <a:prstDash val="solid"/>
          </a:ln>
        </p:spPr>
      </p:sp>
      <p:sp>
        <p:nvSpPr>
          <p:cNvPr id="8" name="Text 6"/>
          <p:cNvSpPr/>
          <p:nvPr/>
        </p:nvSpPr>
        <p:spPr>
          <a:xfrm>
            <a:off x="7223760" y="2286000"/>
            <a:ext cx="4069080" cy="566928"/>
          </a:xfrm>
          <a:prstGeom prst="rect">
            <a:avLst/>
          </a:prstGeom>
          <a:noFill/>
          <a:ln/>
        </p:spPr>
        <p:txBody>
          <a:bodyPr wrap="square" rtlCol="0" anchor="ctr"/>
          <a:lstStyle/>
          <a:p>
            <a:pPr algn="ctr" indent="0" marL="0">
              <a:buNone/>
            </a:pPr>
            <a:r>
              <a:rPr lang="en-US" sz="1300" b="1" dirty="0">
                <a:solidFill>
                  <a:srgbClr val="F1F5F9"/>
                </a:solidFill>
                <a:latin typeface="Arial" pitchFamily="34" charset="0"/>
                <a:ea typeface="Arial" pitchFamily="34" charset="-122"/>
                <a:cs typeface="Arial" pitchFamily="34" charset="-120"/>
              </a:rPr>
              <a:t>Next.js (Frontend)</a:t>
            </a:r>
            <a:endParaRPr lang="en-US" sz="1300" dirty="0"/>
          </a:p>
        </p:txBody>
      </p:sp>
      <p:sp>
        <p:nvSpPr>
          <p:cNvPr id="9" name="Shape 7"/>
          <p:cNvSpPr/>
          <p:nvPr/>
        </p:nvSpPr>
        <p:spPr>
          <a:xfrm>
            <a:off x="7223760" y="2944368"/>
            <a:ext cx="4069080" cy="566928"/>
          </a:xfrm>
          <a:prstGeom prst="roundRect">
            <a:avLst>
              <a:gd name="adj" fmla="val 12903"/>
            </a:avLst>
          </a:prstGeom>
          <a:solidFill>
            <a:srgbClr val="141A24"/>
          </a:solidFill>
          <a:ln w="12700">
            <a:solidFill>
              <a:srgbClr val="232B3A"/>
            </a:solidFill>
            <a:prstDash val="solid"/>
          </a:ln>
        </p:spPr>
      </p:sp>
      <p:sp>
        <p:nvSpPr>
          <p:cNvPr id="10" name="Text 8"/>
          <p:cNvSpPr/>
          <p:nvPr/>
        </p:nvSpPr>
        <p:spPr>
          <a:xfrm>
            <a:off x="7223760" y="2944368"/>
            <a:ext cx="4069080" cy="566928"/>
          </a:xfrm>
          <a:prstGeom prst="rect">
            <a:avLst/>
          </a:prstGeom>
          <a:noFill/>
          <a:ln/>
        </p:spPr>
        <p:txBody>
          <a:bodyPr wrap="square" rtlCol="0" anchor="ctr"/>
          <a:lstStyle/>
          <a:p>
            <a:pPr algn="ctr" indent="0" marL="0">
              <a:buNone/>
            </a:pPr>
            <a:r>
              <a:rPr lang="en-US" sz="1300" b="1" dirty="0">
                <a:solidFill>
                  <a:srgbClr val="F1F5F9"/>
                </a:solidFill>
                <a:latin typeface="Arial" pitchFamily="34" charset="0"/>
                <a:ea typeface="Arial" pitchFamily="34" charset="-122"/>
                <a:cs typeface="Arial" pitchFamily="34" charset="-120"/>
              </a:rPr>
              <a:t>FastAPI (Backend)</a:t>
            </a:r>
            <a:endParaRPr lang="en-US" sz="1300" dirty="0"/>
          </a:p>
        </p:txBody>
      </p:sp>
      <p:sp>
        <p:nvSpPr>
          <p:cNvPr id="11" name="Shape 9"/>
          <p:cNvSpPr/>
          <p:nvPr/>
        </p:nvSpPr>
        <p:spPr>
          <a:xfrm>
            <a:off x="7223760" y="3694176"/>
            <a:ext cx="1264920" cy="822960"/>
          </a:xfrm>
          <a:prstGeom prst="roundRect">
            <a:avLst>
              <a:gd name="adj" fmla="val 8889"/>
            </a:avLst>
          </a:prstGeom>
          <a:solidFill>
            <a:srgbClr val="10151F"/>
          </a:solidFill>
          <a:ln w="12700">
            <a:solidFill>
              <a:srgbClr val="232B3A"/>
            </a:solidFill>
            <a:prstDash val="solid"/>
          </a:ln>
        </p:spPr>
      </p:sp>
      <p:sp>
        <p:nvSpPr>
          <p:cNvPr id="12" name="Text 10"/>
          <p:cNvSpPr/>
          <p:nvPr/>
        </p:nvSpPr>
        <p:spPr>
          <a:xfrm>
            <a:off x="7223760" y="3694176"/>
            <a:ext cx="1264920" cy="822960"/>
          </a:xfrm>
          <a:prstGeom prst="rect">
            <a:avLst/>
          </a:prstGeom>
          <a:noFill/>
          <a:ln/>
        </p:spPr>
        <p:txBody>
          <a:bodyPr wrap="square" rtlCol="0" anchor="ctr"/>
          <a:lstStyle/>
          <a:p>
            <a:pPr algn="ctr" indent="0" marL="0">
              <a:buNone/>
            </a:pPr>
            <a:r>
              <a:rPr lang="en-US" sz="1050" b="1" dirty="0">
                <a:solidFill>
                  <a:srgbClr val="22D3EE"/>
                </a:solidFill>
                <a:latin typeface="Arial" pitchFamily="34" charset="0"/>
                <a:ea typeface="Arial" pitchFamily="34" charset="-122"/>
                <a:cs typeface="Arial" pitchFamily="34" charset="-120"/>
              </a:rPr>
              <a:t>Ollama</a:t>
            </a:r>
            <a:endParaRPr lang="en-US" sz="1050" dirty="0"/>
          </a:p>
          <a:p>
            <a:pPr algn="ctr" indent="0" marL="0">
              <a:buNone/>
            </a:pPr>
            <a:r>
              <a:rPr lang="en-US" sz="1050" b="1" dirty="0">
                <a:solidFill>
                  <a:srgbClr val="22D3EE"/>
                </a:solidFill>
                <a:latin typeface="Arial" pitchFamily="34" charset="0"/>
                <a:ea typeface="Arial" pitchFamily="34" charset="-122"/>
                <a:cs typeface="Arial" pitchFamily="34" charset="-120"/>
              </a:rPr>
              <a:t>(Llama 3)</a:t>
            </a:r>
            <a:endParaRPr lang="en-US" sz="1050" dirty="0"/>
          </a:p>
        </p:txBody>
      </p:sp>
      <p:sp>
        <p:nvSpPr>
          <p:cNvPr id="13" name="Shape 11"/>
          <p:cNvSpPr/>
          <p:nvPr/>
        </p:nvSpPr>
        <p:spPr>
          <a:xfrm>
            <a:off x="8625840" y="3694176"/>
            <a:ext cx="1264920" cy="822960"/>
          </a:xfrm>
          <a:prstGeom prst="roundRect">
            <a:avLst>
              <a:gd name="adj" fmla="val 8889"/>
            </a:avLst>
          </a:prstGeom>
          <a:solidFill>
            <a:srgbClr val="10151F"/>
          </a:solidFill>
          <a:ln w="12700">
            <a:solidFill>
              <a:srgbClr val="232B3A"/>
            </a:solidFill>
            <a:prstDash val="solid"/>
          </a:ln>
        </p:spPr>
      </p:sp>
      <p:sp>
        <p:nvSpPr>
          <p:cNvPr id="14" name="Text 12"/>
          <p:cNvSpPr/>
          <p:nvPr/>
        </p:nvSpPr>
        <p:spPr>
          <a:xfrm>
            <a:off x="8625840" y="3694176"/>
            <a:ext cx="1264920" cy="822960"/>
          </a:xfrm>
          <a:prstGeom prst="rect">
            <a:avLst/>
          </a:prstGeom>
          <a:noFill/>
          <a:ln/>
        </p:spPr>
        <p:txBody>
          <a:bodyPr wrap="square" rtlCol="0" anchor="ctr"/>
          <a:lstStyle/>
          <a:p>
            <a:pPr algn="ctr" indent="0" marL="0">
              <a:buNone/>
            </a:pPr>
            <a:r>
              <a:rPr lang="en-US" sz="1050" b="1" dirty="0">
                <a:solidFill>
                  <a:srgbClr val="22D3EE"/>
                </a:solidFill>
                <a:latin typeface="Arial" pitchFamily="34" charset="0"/>
                <a:ea typeface="Arial" pitchFamily="34" charset="-122"/>
                <a:cs typeface="Arial" pitchFamily="34" charset="-120"/>
              </a:rPr>
              <a:t>ChromaDB</a:t>
            </a:r>
            <a:endParaRPr lang="en-US" sz="1050" dirty="0"/>
          </a:p>
        </p:txBody>
      </p:sp>
      <p:sp>
        <p:nvSpPr>
          <p:cNvPr id="15" name="Shape 13"/>
          <p:cNvSpPr/>
          <p:nvPr/>
        </p:nvSpPr>
        <p:spPr>
          <a:xfrm>
            <a:off x="10027920" y="3694176"/>
            <a:ext cx="1264920" cy="822960"/>
          </a:xfrm>
          <a:prstGeom prst="roundRect">
            <a:avLst>
              <a:gd name="adj" fmla="val 8889"/>
            </a:avLst>
          </a:prstGeom>
          <a:solidFill>
            <a:srgbClr val="10151F"/>
          </a:solidFill>
          <a:ln w="12700">
            <a:solidFill>
              <a:srgbClr val="232B3A"/>
            </a:solidFill>
            <a:prstDash val="solid"/>
          </a:ln>
        </p:spPr>
      </p:sp>
      <p:sp>
        <p:nvSpPr>
          <p:cNvPr id="16" name="Text 14"/>
          <p:cNvSpPr/>
          <p:nvPr/>
        </p:nvSpPr>
        <p:spPr>
          <a:xfrm>
            <a:off x="10027920" y="3694176"/>
            <a:ext cx="1264920" cy="822960"/>
          </a:xfrm>
          <a:prstGeom prst="rect">
            <a:avLst/>
          </a:prstGeom>
          <a:noFill/>
          <a:ln/>
        </p:spPr>
        <p:txBody>
          <a:bodyPr wrap="square" rtlCol="0" anchor="ctr"/>
          <a:lstStyle/>
          <a:p>
            <a:pPr algn="ctr" indent="0" marL="0">
              <a:buNone/>
            </a:pPr>
            <a:r>
              <a:rPr lang="en-US" sz="1050" b="1" dirty="0">
                <a:solidFill>
                  <a:srgbClr val="22D3EE"/>
                </a:solidFill>
                <a:latin typeface="Arial" pitchFamily="34" charset="0"/>
                <a:ea typeface="Arial" pitchFamily="34" charset="-122"/>
                <a:cs typeface="Arial" pitchFamily="34" charset="-120"/>
              </a:rPr>
              <a:t>PostgreSQL</a:t>
            </a:r>
            <a:endParaRPr lang="en-US" sz="1050" dirty="0"/>
          </a:p>
        </p:txBody>
      </p:sp>
      <p:sp>
        <p:nvSpPr>
          <p:cNvPr id="17" name="Shape 15"/>
          <p:cNvSpPr/>
          <p:nvPr/>
        </p:nvSpPr>
        <p:spPr>
          <a:xfrm>
            <a:off x="7223760" y="4700016"/>
            <a:ext cx="4069080" cy="566928"/>
          </a:xfrm>
          <a:prstGeom prst="roundRect">
            <a:avLst>
              <a:gd name="adj" fmla="val 12903"/>
            </a:avLst>
          </a:prstGeom>
          <a:solidFill>
            <a:srgbClr val="141A24"/>
          </a:solidFill>
          <a:ln w="12700">
            <a:solidFill>
              <a:srgbClr val="232B3A"/>
            </a:solidFill>
            <a:prstDash val="solid"/>
          </a:ln>
        </p:spPr>
      </p:sp>
      <p:sp>
        <p:nvSpPr>
          <p:cNvPr id="18" name="Text 16"/>
          <p:cNvSpPr/>
          <p:nvPr/>
        </p:nvSpPr>
        <p:spPr>
          <a:xfrm>
            <a:off x="7223760" y="4700016"/>
            <a:ext cx="4069080" cy="566928"/>
          </a:xfrm>
          <a:prstGeom prst="rect">
            <a:avLst/>
          </a:prstGeom>
          <a:noFill/>
          <a:ln/>
        </p:spPr>
        <p:txBody>
          <a:bodyPr wrap="square" rtlCol="0" anchor="ctr"/>
          <a:lstStyle/>
          <a:p>
            <a:pPr algn="ctr" indent="0" marL="0">
              <a:buNone/>
            </a:pPr>
            <a:r>
              <a:rPr lang="en-US" sz="1300" b="1" dirty="0">
                <a:solidFill>
                  <a:srgbClr val="F1F5F9"/>
                </a:solidFill>
                <a:latin typeface="Arial" pitchFamily="34" charset="0"/>
                <a:ea typeface="Arial" pitchFamily="34" charset="-122"/>
                <a:cs typeface="Arial" pitchFamily="34" charset="-120"/>
              </a:rPr>
              <a:t>PM2 (Process Manager)</a:t>
            </a:r>
            <a:endParaRPr lang="en-US" sz="1300" dirty="0"/>
          </a:p>
        </p:txBody>
      </p:sp>
      <p:sp>
        <p:nvSpPr>
          <p:cNvPr id="19" name="Text 17"/>
          <p:cNvSpPr/>
          <p:nvPr/>
        </p:nvSpPr>
        <p:spPr>
          <a:xfrm>
            <a:off x="7223760" y="5669280"/>
            <a:ext cx="4069080" cy="320040"/>
          </a:xfrm>
          <a:prstGeom prst="rect">
            <a:avLst/>
          </a:prstGeom>
          <a:noFill/>
          <a:ln/>
        </p:spPr>
        <p:txBody>
          <a:bodyPr wrap="square" rtlCol="0" anchor="ctr"/>
          <a:lstStyle/>
          <a:p>
            <a:pPr algn="ctr" indent="0" marL="0">
              <a:buNone/>
            </a:pPr>
            <a:r>
              <a:rPr lang="en-US" sz="950" dirty="0">
                <a:solidFill>
                  <a:srgbClr val="94A3B8"/>
                </a:solidFill>
                <a:latin typeface="Consolas" pitchFamily="34" charset="0"/>
                <a:ea typeface="Consolas" pitchFamily="34" charset="-122"/>
                <a:cs typeface="Consolas" pitchFamily="34" charset="-120"/>
              </a:rPr>
              <a:t>Open-source · Fully self-hosted · No external calls</a:t>
            </a:r>
            <a:endParaRPr lang="en-US" sz="950" dirty="0"/>
          </a:p>
        </p:txBody>
      </p:sp>
      <p:sp>
        <p:nvSpPr>
          <p:cNvPr id="20" name="Text 18"/>
          <p:cNvSpPr/>
          <p:nvPr/>
        </p:nvSpPr>
        <p:spPr>
          <a:xfrm>
            <a:off x="11548872" y="6473952"/>
            <a:ext cx="457200" cy="274320"/>
          </a:xfrm>
          <a:prstGeom prst="rect">
            <a:avLst/>
          </a:prstGeom>
          <a:noFill/>
          <a:ln/>
        </p:spPr>
        <p:txBody>
          <a:bodyPr wrap="square" rtlCol="0" anchor="ctr"/>
          <a:lstStyle/>
          <a:p>
            <a:pPr algn="r" indent="0" marL="0">
              <a:buNone/>
            </a:pPr>
            <a:r>
              <a:rPr lang="en-US" sz="900" dirty="0">
                <a:solidFill>
                  <a:srgbClr val="5B6576"/>
                </a:solidFill>
                <a:latin typeface="Consolas" pitchFamily="34" charset="0"/>
                <a:ea typeface="Consolas" pitchFamily="34" charset="-122"/>
                <a:cs typeface="Consolas"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E14"/>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200" kern="0" dirty="0">
                <a:solidFill>
                  <a:srgbClr val="34D399"/>
                </a:solidFill>
                <a:latin typeface="Consolas" pitchFamily="34" charset="0"/>
                <a:ea typeface="Consolas" pitchFamily="34" charset="-122"/>
                <a:cs typeface="Consolas" pitchFamily="34" charset="-120"/>
              </a:rPr>
              <a:t>SECURITY &amp; PRIVACY</a:t>
            </a:r>
            <a:endParaRPr lang="en-US" sz="1200" dirty="0"/>
          </a:p>
        </p:txBody>
      </p:sp>
      <p:sp>
        <p:nvSpPr>
          <p:cNvPr id="3" name="Text 1"/>
          <p:cNvSpPr/>
          <p:nvPr/>
        </p:nvSpPr>
        <p:spPr>
          <a:xfrm>
            <a:off x="548640" y="713232"/>
            <a:ext cx="10881360" cy="822960"/>
          </a:xfrm>
          <a:prstGeom prst="rect">
            <a:avLst/>
          </a:prstGeom>
          <a:noFill/>
          <a:ln/>
        </p:spPr>
        <p:txBody>
          <a:bodyPr wrap="square" rtlCol="0" anchor="ctr"/>
          <a:lstStyle/>
          <a:p>
            <a:pPr indent="0" marL="0">
              <a:buNone/>
            </a:pPr>
            <a:r>
              <a:rPr lang="en-US" sz="3200" b="1" dirty="0">
                <a:solidFill>
                  <a:srgbClr val="F1F5F9"/>
                </a:solidFill>
                <a:latin typeface="Arial" pitchFamily="34" charset="0"/>
                <a:ea typeface="Arial" pitchFamily="34" charset="-122"/>
                <a:cs typeface="Arial" pitchFamily="34" charset="-120"/>
              </a:rPr>
              <a:t>Data Sovereignty by Design</a:t>
            </a:r>
            <a:endParaRPr lang="en-US" sz="3200" dirty="0"/>
          </a:p>
        </p:txBody>
      </p:sp>
      <p:sp>
        <p:nvSpPr>
          <p:cNvPr id="4" name="Text 2"/>
          <p:cNvSpPr/>
          <p:nvPr/>
        </p:nvSpPr>
        <p:spPr>
          <a:xfrm>
            <a:off x="548640" y="1783080"/>
            <a:ext cx="5760720" cy="4572000"/>
          </a:xfrm>
          <a:prstGeom prst="rect">
            <a:avLst/>
          </a:prstGeom>
          <a:noFill/>
          <a:ln/>
        </p:spPr>
        <p:txBody>
          <a:bodyPr wrap="square" rtlCol="0" anchor="t"/>
          <a:lstStyle/>
          <a:p>
            <a:pPr marL="342900" indent="-342900">
              <a:lnSpc>
                <a:spcPct val="115000"/>
              </a:lnSpc>
              <a:spcAft>
                <a:spcPts val="1300"/>
              </a:spcAft>
              <a:buSzPct val="100000"/>
              <a:buChar char="•"/>
            </a:pPr>
            <a:r>
              <a:rPr lang="en-US" sz="1400" dirty="0">
                <a:solidFill>
                  <a:srgbClr val="F1F5F9"/>
                </a:solidFill>
                <a:latin typeface="Arial" pitchFamily="34" charset="0"/>
                <a:ea typeface="Arial" pitchFamily="34" charset="-122"/>
                <a:cs typeface="Arial" pitchFamily="34" charset="-120"/>
              </a:rPr>
              <a:t>This was LTI's hard requirement — and it's not a checkbox, it's architectural: no code path where log data leaves this server.</a:t>
            </a:r>
            <a:endParaRPr lang="en-US" sz="1400" dirty="0"/>
          </a:p>
          <a:p>
            <a:pPr marL="342900" indent="-342900">
              <a:lnSpc>
                <a:spcPct val="115000"/>
              </a:lnSpc>
              <a:spcAft>
                <a:spcPts val="1300"/>
              </a:spcAft>
              <a:buSzPct val="100000"/>
              <a:buChar char="•"/>
            </a:pPr>
            <a:r>
              <a:rPr lang="en-US" sz="1400" dirty="0">
                <a:solidFill>
                  <a:srgbClr val="F1F5F9"/>
                </a:solidFill>
                <a:latin typeface="Arial" pitchFamily="34" charset="0"/>
                <a:ea typeface="Arial" pitchFamily="34" charset="-122"/>
                <a:cs typeface="Arial" pitchFamily="34" charset="-120"/>
              </a:rPr>
              <a:t>The AI model (Llama 3) is installed directly on LTI's own server — it does not call ChatGPT, Google, or any internet service.</a:t>
            </a:r>
            <a:endParaRPr lang="en-US" sz="1400" dirty="0"/>
          </a:p>
          <a:p>
            <a:pPr marL="342900" indent="-342900">
              <a:lnSpc>
                <a:spcPct val="115000"/>
              </a:lnSpc>
              <a:spcAft>
                <a:spcPts val="1300"/>
              </a:spcAft>
              <a:buSzPct val="100000"/>
              <a:buChar char="•"/>
            </a:pPr>
            <a:r>
              <a:rPr lang="en-US" sz="1400" dirty="0">
                <a:solidFill>
                  <a:srgbClr val="F1F5F9"/>
                </a:solidFill>
                <a:latin typeface="Arial" pitchFamily="34" charset="0"/>
                <a:ea typeface="Arial" pitchFamily="34" charset="-122"/>
                <a:cs typeface="Arial" pitchFamily="34" charset="-120"/>
              </a:rPr>
              <a:t>Every log file, every analysis result, and every generated report stays inside LTI's PostgreSQL database.</a:t>
            </a:r>
            <a:endParaRPr lang="en-US" sz="1400" dirty="0"/>
          </a:p>
          <a:p>
            <a:pPr marL="342900" indent="-342900">
              <a:lnSpc>
                <a:spcPct val="115000"/>
              </a:lnSpc>
              <a:spcAft>
                <a:spcPts val="1300"/>
              </a:spcAft>
              <a:buSzPct val="100000"/>
              <a:buChar char="•"/>
            </a:pPr>
            <a:r>
              <a:rPr lang="en-US" sz="1400" dirty="0">
                <a:solidFill>
                  <a:srgbClr val="F1F5F9"/>
                </a:solidFill>
                <a:latin typeface="Arial" pitchFamily="34" charset="0"/>
                <a:ea typeface="Arial" pitchFamily="34" charset="-122"/>
                <a:cs typeface="Arial" pitchFamily="34" charset="-120"/>
              </a:rPr>
              <a:t>The AI can only analyze and recommend — it cannot block IPs, shut down servers, or take any automatic action without a human decision.</a:t>
            </a:r>
            <a:endParaRPr lang="en-US" sz="1400" dirty="0"/>
          </a:p>
        </p:txBody>
      </p:sp>
      <p:pic>
        <p:nvPicPr>
          <p:cNvPr id="5" name="Image 0" descr="/home/claude/aadfa_deck_v2/icons/file.png">    </p:cNvPr>
          <p:cNvPicPr>
            <a:picLocks noChangeAspect="1"/>
          </p:cNvPicPr>
          <p:nvPr/>
        </p:nvPicPr>
        <p:blipFill>
          <a:blip r:embed="rId1"/>
          <a:stretch>
            <a:fillRect/>
          </a:stretch>
        </p:blipFill>
        <p:spPr>
          <a:xfrm>
            <a:off x="8764524" y="1691640"/>
            <a:ext cx="438912" cy="438912"/>
          </a:xfrm>
          <a:prstGeom prst="rect">
            <a:avLst/>
          </a:prstGeom>
        </p:spPr>
      </p:pic>
      <p:sp>
        <p:nvSpPr>
          <p:cNvPr id="6" name="Text 3"/>
          <p:cNvSpPr/>
          <p:nvPr/>
        </p:nvSpPr>
        <p:spPr>
          <a:xfrm>
            <a:off x="6675120" y="2167128"/>
            <a:ext cx="4617720" cy="274320"/>
          </a:xfrm>
          <a:prstGeom prst="rect">
            <a:avLst/>
          </a:prstGeom>
          <a:noFill/>
          <a:ln/>
        </p:spPr>
        <p:txBody>
          <a:bodyPr wrap="square" rtlCol="0" anchor="ctr"/>
          <a:lstStyle/>
          <a:p>
            <a:pPr algn="ctr" indent="0" marL="0">
              <a:buNone/>
            </a:pPr>
            <a:r>
              <a:rPr lang="en-US" sz="1150" dirty="0">
                <a:solidFill>
                  <a:srgbClr val="94A3B8"/>
                </a:solidFill>
                <a:latin typeface="Arial" pitchFamily="34" charset="0"/>
                <a:ea typeface="Arial" pitchFamily="34" charset="-122"/>
                <a:cs typeface="Arial" pitchFamily="34" charset="-120"/>
              </a:rPr>
              <a:t>Log Files In</a:t>
            </a:r>
            <a:endParaRPr lang="en-US" sz="1150" dirty="0"/>
          </a:p>
        </p:txBody>
      </p:sp>
      <p:sp>
        <p:nvSpPr>
          <p:cNvPr id="7" name="Shape 4"/>
          <p:cNvSpPr/>
          <p:nvPr/>
        </p:nvSpPr>
        <p:spPr>
          <a:xfrm>
            <a:off x="8983980" y="2478024"/>
            <a:ext cx="0" cy="274320"/>
          </a:xfrm>
          <a:prstGeom prst="line">
            <a:avLst/>
          </a:prstGeom>
          <a:noFill/>
          <a:ln w="19050">
            <a:solidFill>
              <a:srgbClr val="5B6576"/>
            </a:solidFill>
            <a:prstDash val="solid"/>
            <a:tailEnd type="triangle"/>
          </a:ln>
        </p:spPr>
      </p:sp>
      <p:sp>
        <p:nvSpPr>
          <p:cNvPr id="8" name="Shape 5"/>
          <p:cNvSpPr/>
          <p:nvPr/>
        </p:nvSpPr>
        <p:spPr>
          <a:xfrm>
            <a:off x="6675120" y="2834640"/>
            <a:ext cx="4617720" cy="2514600"/>
          </a:xfrm>
          <a:prstGeom prst="roundRect">
            <a:avLst>
              <a:gd name="adj" fmla="val 3636"/>
            </a:avLst>
          </a:prstGeom>
          <a:solidFill>
            <a:srgbClr val="0D1520"/>
          </a:solidFill>
          <a:ln w="22225">
            <a:solidFill>
              <a:srgbClr val="34D399"/>
            </a:solidFill>
            <a:prstDash val="solid"/>
          </a:ln>
        </p:spPr>
      </p:sp>
      <p:sp>
        <p:nvSpPr>
          <p:cNvPr id="9" name="Text 6"/>
          <p:cNvSpPr/>
          <p:nvPr/>
        </p:nvSpPr>
        <p:spPr>
          <a:xfrm>
            <a:off x="6675120" y="3017520"/>
            <a:ext cx="4617720" cy="274320"/>
          </a:xfrm>
          <a:prstGeom prst="rect">
            <a:avLst/>
          </a:prstGeom>
          <a:noFill/>
          <a:ln/>
        </p:spPr>
        <p:txBody>
          <a:bodyPr wrap="square" rtlCol="0" anchor="ctr"/>
          <a:lstStyle/>
          <a:p>
            <a:pPr algn="ctr" indent="0" marL="0">
              <a:buNone/>
            </a:pPr>
            <a:r>
              <a:rPr lang="en-US" sz="1150" b="1" spc="125" kern="0" dirty="0">
                <a:solidFill>
                  <a:srgbClr val="34D399"/>
                </a:solidFill>
                <a:latin typeface="Consolas" pitchFamily="34" charset="0"/>
                <a:ea typeface="Consolas" pitchFamily="34" charset="-122"/>
                <a:cs typeface="Consolas" pitchFamily="34" charset="-120"/>
              </a:rPr>
              <a:t>LTI SERVER — SELF-HOSTED</a:t>
            </a:r>
            <a:endParaRPr lang="en-US" sz="1150" dirty="0"/>
          </a:p>
        </p:txBody>
      </p:sp>
      <p:pic>
        <p:nvPicPr>
          <p:cNvPr id="10" name="Image 1" descr="/home/claude/aadfa_deck_v2/icons/bot.png">    </p:cNvPr>
          <p:cNvPicPr>
            <a:picLocks noChangeAspect="1"/>
          </p:cNvPicPr>
          <p:nvPr/>
        </p:nvPicPr>
        <p:blipFill>
          <a:blip r:embed="rId2"/>
          <a:stretch>
            <a:fillRect/>
          </a:stretch>
        </p:blipFill>
        <p:spPr>
          <a:xfrm>
            <a:off x="7589520" y="3520440"/>
            <a:ext cx="566928" cy="566928"/>
          </a:xfrm>
          <a:prstGeom prst="rect">
            <a:avLst/>
          </a:prstGeom>
        </p:spPr>
      </p:pic>
      <p:sp>
        <p:nvSpPr>
          <p:cNvPr id="11" name="Text 7"/>
          <p:cNvSpPr/>
          <p:nvPr/>
        </p:nvSpPr>
        <p:spPr>
          <a:xfrm>
            <a:off x="7040880" y="4160520"/>
            <a:ext cx="1828800" cy="457200"/>
          </a:xfrm>
          <a:prstGeom prst="rect">
            <a:avLst/>
          </a:prstGeom>
          <a:noFill/>
          <a:ln/>
        </p:spPr>
        <p:txBody>
          <a:bodyPr wrap="square" rtlCol="0" anchor="ctr"/>
          <a:lstStyle/>
          <a:p>
            <a:pPr algn="ctr" indent="0" marL="0">
              <a:buNone/>
            </a:pPr>
            <a:r>
              <a:rPr lang="en-US" sz="1250" b="1" dirty="0">
                <a:solidFill>
                  <a:srgbClr val="F1F5F9"/>
                </a:solidFill>
                <a:latin typeface="Arial" pitchFamily="34" charset="0"/>
                <a:ea typeface="Arial" pitchFamily="34" charset="-122"/>
                <a:cs typeface="Arial" pitchFamily="34" charset="-120"/>
              </a:rPr>
              <a:t>Local AI</a:t>
            </a:r>
            <a:endParaRPr lang="en-US" sz="1250" dirty="0"/>
          </a:p>
          <a:p>
            <a:pPr algn="ctr" indent="0" marL="0">
              <a:buNone/>
            </a:pPr>
            <a:r>
              <a:rPr lang="en-US" sz="1250" b="1" dirty="0">
                <a:solidFill>
                  <a:srgbClr val="F1F5F9"/>
                </a:solidFill>
                <a:latin typeface="Arial" pitchFamily="34" charset="0"/>
                <a:ea typeface="Arial" pitchFamily="34" charset="-122"/>
                <a:cs typeface="Arial" pitchFamily="34" charset="-120"/>
              </a:rPr>
              <a:t>(Llama 3)</a:t>
            </a:r>
            <a:endParaRPr lang="en-US" sz="1250" dirty="0"/>
          </a:p>
        </p:txBody>
      </p:sp>
      <p:pic>
        <p:nvPicPr>
          <p:cNvPr id="12" name="Image 2" descr="/home/claude/aadfa_deck_v2/icons/database.png">    </p:cNvPr>
          <p:cNvPicPr>
            <a:picLocks noChangeAspect="1"/>
          </p:cNvPicPr>
          <p:nvPr/>
        </p:nvPicPr>
        <p:blipFill>
          <a:blip r:embed="rId3"/>
          <a:stretch>
            <a:fillRect/>
          </a:stretch>
        </p:blipFill>
        <p:spPr>
          <a:xfrm>
            <a:off x="9811512" y="3520440"/>
            <a:ext cx="566928" cy="566928"/>
          </a:xfrm>
          <a:prstGeom prst="rect">
            <a:avLst/>
          </a:prstGeom>
        </p:spPr>
      </p:pic>
      <p:sp>
        <p:nvSpPr>
          <p:cNvPr id="13" name="Text 8"/>
          <p:cNvSpPr/>
          <p:nvPr/>
        </p:nvSpPr>
        <p:spPr>
          <a:xfrm>
            <a:off x="9281160" y="4160520"/>
            <a:ext cx="1828800" cy="457200"/>
          </a:xfrm>
          <a:prstGeom prst="rect">
            <a:avLst/>
          </a:prstGeom>
          <a:noFill/>
          <a:ln/>
        </p:spPr>
        <p:txBody>
          <a:bodyPr wrap="square" rtlCol="0" anchor="ctr"/>
          <a:lstStyle/>
          <a:p>
            <a:pPr algn="ctr" indent="0" marL="0">
              <a:buNone/>
            </a:pPr>
            <a:r>
              <a:rPr lang="en-US" sz="1250" b="1" dirty="0">
                <a:solidFill>
                  <a:srgbClr val="F1F5F9"/>
                </a:solidFill>
                <a:latin typeface="Arial" pitchFamily="34" charset="0"/>
                <a:ea typeface="Arial" pitchFamily="34" charset="-122"/>
                <a:cs typeface="Arial" pitchFamily="34" charset="-120"/>
              </a:rPr>
              <a:t>PostgreSQL</a:t>
            </a:r>
            <a:endParaRPr lang="en-US" sz="1250" dirty="0"/>
          </a:p>
          <a:p>
            <a:pPr algn="ctr" indent="0" marL="0">
              <a:buNone/>
            </a:pPr>
            <a:r>
              <a:rPr lang="en-US" sz="1250" b="1" dirty="0">
                <a:solidFill>
                  <a:srgbClr val="F1F5F9"/>
                </a:solidFill>
                <a:latin typeface="Arial" pitchFamily="34" charset="0"/>
                <a:ea typeface="Arial" pitchFamily="34" charset="-122"/>
                <a:cs typeface="Arial" pitchFamily="34" charset="-120"/>
              </a:rPr>
              <a:t>Database</a:t>
            </a:r>
            <a:endParaRPr lang="en-US" sz="1250" dirty="0"/>
          </a:p>
        </p:txBody>
      </p:sp>
      <p:sp>
        <p:nvSpPr>
          <p:cNvPr id="14" name="Shape 9"/>
          <p:cNvSpPr/>
          <p:nvPr/>
        </p:nvSpPr>
        <p:spPr>
          <a:xfrm>
            <a:off x="8823960" y="3803904"/>
            <a:ext cx="320040" cy="0"/>
          </a:xfrm>
          <a:prstGeom prst="line">
            <a:avLst/>
          </a:prstGeom>
          <a:noFill/>
          <a:ln w="19050">
            <a:solidFill>
              <a:srgbClr val="232B3A"/>
            </a:solidFill>
            <a:prstDash val="solid"/>
            <a:headEnd type="triangle"/>
            <a:tailEnd type="triangle"/>
          </a:ln>
        </p:spPr>
      </p:sp>
      <p:sp>
        <p:nvSpPr>
          <p:cNvPr id="15" name="Shape 10"/>
          <p:cNvSpPr/>
          <p:nvPr/>
        </p:nvSpPr>
        <p:spPr>
          <a:xfrm>
            <a:off x="6995160" y="4892040"/>
            <a:ext cx="3977640" cy="0"/>
          </a:xfrm>
          <a:prstGeom prst="line">
            <a:avLst/>
          </a:prstGeom>
          <a:noFill/>
          <a:ln w="12700">
            <a:solidFill>
              <a:srgbClr val="232B3A"/>
            </a:solidFill>
            <a:prstDash val="solid"/>
          </a:ln>
        </p:spPr>
      </p:sp>
      <p:sp>
        <p:nvSpPr>
          <p:cNvPr id="16" name="Text 11"/>
          <p:cNvSpPr/>
          <p:nvPr/>
        </p:nvSpPr>
        <p:spPr>
          <a:xfrm>
            <a:off x="6675120" y="5001768"/>
            <a:ext cx="4617720" cy="274320"/>
          </a:xfrm>
          <a:prstGeom prst="rect">
            <a:avLst/>
          </a:prstGeom>
          <a:noFill/>
          <a:ln/>
        </p:spPr>
        <p:txBody>
          <a:bodyPr wrap="square" rtlCol="0" anchor="ctr"/>
          <a:lstStyle/>
          <a:p>
            <a:pPr algn="ctr" indent="0" marL="0">
              <a:buNone/>
            </a:pPr>
            <a:r>
              <a:rPr lang="en-US" sz="900" dirty="0">
                <a:solidFill>
                  <a:srgbClr val="34D399"/>
                </a:solidFill>
                <a:latin typeface="Consolas" pitchFamily="34" charset="0"/>
                <a:ea typeface="Consolas" pitchFamily="34" charset="-122"/>
                <a:cs typeface="Consolas" pitchFamily="34" charset="-120"/>
              </a:rPr>
              <a:t>✓ No internet calls   ✓ No third-party APIs   ✓ Data stays here</a:t>
            </a:r>
            <a:endParaRPr lang="en-US" sz="900" dirty="0"/>
          </a:p>
        </p:txBody>
      </p:sp>
      <p:sp>
        <p:nvSpPr>
          <p:cNvPr id="17" name="Shape 12"/>
          <p:cNvSpPr/>
          <p:nvPr/>
        </p:nvSpPr>
        <p:spPr>
          <a:xfrm>
            <a:off x="8983980" y="5349240"/>
            <a:ext cx="0" cy="274320"/>
          </a:xfrm>
          <a:prstGeom prst="line">
            <a:avLst/>
          </a:prstGeom>
          <a:noFill/>
          <a:ln w="19050">
            <a:solidFill>
              <a:srgbClr val="EF4444"/>
            </a:solidFill>
            <a:prstDash val="dash"/>
            <a:tailEnd type="triangle"/>
          </a:ln>
        </p:spPr>
      </p:sp>
      <p:sp>
        <p:nvSpPr>
          <p:cNvPr id="18" name="Shape 13"/>
          <p:cNvSpPr/>
          <p:nvPr/>
        </p:nvSpPr>
        <p:spPr>
          <a:xfrm>
            <a:off x="8755380" y="5623560"/>
            <a:ext cx="457200" cy="457200"/>
          </a:xfrm>
          <a:prstGeom prst="ellipse">
            <a:avLst/>
          </a:prstGeom>
          <a:solidFill>
            <a:srgbClr val="2A1418"/>
          </a:solidFill>
          <a:ln w="19050">
            <a:solidFill>
              <a:srgbClr val="EF4444"/>
            </a:solidFill>
            <a:prstDash val="solid"/>
          </a:ln>
        </p:spPr>
      </p:sp>
      <p:pic>
        <p:nvPicPr>
          <p:cNvPr id="19" name="Image 3" descr="/home/claude/aadfa_deck_v2/icons/x.png">    </p:cNvPr>
          <p:cNvPicPr>
            <a:picLocks noChangeAspect="1"/>
          </p:cNvPicPr>
          <p:nvPr/>
        </p:nvPicPr>
        <p:blipFill>
          <a:blip r:embed="rId4"/>
          <a:stretch>
            <a:fillRect/>
          </a:stretch>
        </p:blipFill>
        <p:spPr>
          <a:xfrm>
            <a:off x="8846820" y="5715000"/>
            <a:ext cx="274320" cy="274320"/>
          </a:xfrm>
          <a:prstGeom prst="rect">
            <a:avLst/>
          </a:prstGeom>
        </p:spPr>
      </p:pic>
      <p:sp>
        <p:nvSpPr>
          <p:cNvPr id="20" name="Text 14"/>
          <p:cNvSpPr/>
          <p:nvPr/>
        </p:nvSpPr>
        <p:spPr>
          <a:xfrm>
            <a:off x="6675120" y="6135624"/>
            <a:ext cx="4617720" cy="457200"/>
          </a:xfrm>
          <a:prstGeom prst="rect">
            <a:avLst/>
          </a:prstGeom>
          <a:noFill/>
          <a:ln/>
        </p:spPr>
        <p:txBody>
          <a:bodyPr wrap="square" rtlCol="0" anchor="ctr"/>
          <a:lstStyle/>
          <a:p>
            <a:pPr algn="ctr" indent="0" marL="0">
              <a:buNone/>
            </a:pPr>
            <a:r>
              <a:rPr lang="en-US" sz="1050" b="1" dirty="0">
                <a:solidFill>
                  <a:srgbClr val="EF4444"/>
                </a:solidFill>
                <a:latin typeface="Arial" pitchFamily="34" charset="0"/>
                <a:ea typeface="Arial" pitchFamily="34" charset="-122"/>
                <a:cs typeface="Arial" pitchFamily="34" charset="-120"/>
              </a:rPr>
              <a:t>Internet / Third-Party Services — Blocked</a:t>
            </a:r>
            <a:endParaRPr lang="en-US" sz="1050" dirty="0"/>
          </a:p>
        </p:txBody>
      </p:sp>
      <p:sp>
        <p:nvSpPr>
          <p:cNvPr id="21" name="Text 15"/>
          <p:cNvSpPr/>
          <p:nvPr/>
        </p:nvSpPr>
        <p:spPr>
          <a:xfrm>
            <a:off x="11548872" y="6473952"/>
            <a:ext cx="457200" cy="274320"/>
          </a:xfrm>
          <a:prstGeom prst="rect">
            <a:avLst/>
          </a:prstGeom>
          <a:noFill/>
          <a:ln/>
        </p:spPr>
        <p:txBody>
          <a:bodyPr wrap="square" rtlCol="0" anchor="ctr"/>
          <a:lstStyle/>
          <a:p>
            <a:pPr algn="r" indent="0" marL="0">
              <a:buNone/>
            </a:pPr>
            <a:r>
              <a:rPr lang="en-US" sz="900" dirty="0">
                <a:solidFill>
                  <a:srgbClr val="5B6576"/>
                </a:solidFill>
                <a:latin typeface="Consolas" pitchFamily="34" charset="0"/>
                <a:ea typeface="Consolas" pitchFamily="34" charset="-122"/>
                <a:cs typeface="Consolas"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E14"/>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200" kern="0" dirty="0">
                <a:solidFill>
                  <a:srgbClr val="34D399"/>
                </a:solidFill>
                <a:latin typeface="Consolas" pitchFamily="34" charset="0"/>
                <a:ea typeface="Consolas" pitchFamily="34" charset="-122"/>
                <a:cs typeface="Consolas" pitchFamily="34" charset="-120"/>
              </a:rPr>
              <a:t>RESULTS</a:t>
            </a:r>
            <a:endParaRPr lang="en-US" sz="1200" dirty="0"/>
          </a:p>
        </p:txBody>
      </p:sp>
      <p:sp>
        <p:nvSpPr>
          <p:cNvPr id="3" name="Text 1"/>
          <p:cNvSpPr/>
          <p:nvPr/>
        </p:nvSpPr>
        <p:spPr>
          <a:xfrm>
            <a:off x="548640" y="713232"/>
            <a:ext cx="10881360" cy="822960"/>
          </a:xfrm>
          <a:prstGeom prst="rect">
            <a:avLst/>
          </a:prstGeom>
          <a:noFill/>
          <a:ln/>
        </p:spPr>
        <p:txBody>
          <a:bodyPr wrap="square" rtlCol="0" anchor="ctr"/>
          <a:lstStyle/>
          <a:p>
            <a:pPr indent="0" marL="0">
              <a:buNone/>
            </a:pPr>
            <a:r>
              <a:rPr lang="en-US" sz="3200" b="1" dirty="0">
                <a:solidFill>
                  <a:srgbClr val="F1F5F9"/>
                </a:solidFill>
                <a:latin typeface="Arial" pitchFamily="34" charset="0"/>
                <a:ea typeface="Arial" pitchFamily="34" charset="-122"/>
                <a:cs typeface="Arial" pitchFamily="34" charset="-120"/>
              </a:rPr>
              <a:t>Business Value</a:t>
            </a:r>
            <a:endParaRPr lang="en-US" sz="3200" dirty="0"/>
          </a:p>
        </p:txBody>
      </p:sp>
      <p:sp>
        <p:nvSpPr>
          <p:cNvPr id="4" name="Shape 2"/>
          <p:cNvSpPr/>
          <p:nvPr/>
        </p:nvSpPr>
        <p:spPr>
          <a:xfrm>
            <a:off x="548640" y="1920240"/>
            <a:ext cx="2567178" cy="3657600"/>
          </a:xfrm>
          <a:prstGeom prst="roundRect">
            <a:avLst>
              <a:gd name="adj" fmla="val 2850"/>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5" name="Image 0" descr="/home/claude/aadfa_deck_v2/icons/clock.png">    </p:cNvPr>
          <p:cNvPicPr>
            <a:picLocks noChangeAspect="1"/>
          </p:cNvPicPr>
          <p:nvPr/>
        </p:nvPicPr>
        <p:blipFill>
          <a:blip r:embed="rId1"/>
          <a:stretch>
            <a:fillRect/>
          </a:stretch>
        </p:blipFill>
        <p:spPr>
          <a:xfrm>
            <a:off x="1557909" y="2286000"/>
            <a:ext cx="548640" cy="548640"/>
          </a:xfrm>
          <a:prstGeom prst="rect">
            <a:avLst/>
          </a:prstGeom>
        </p:spPr>
      </p:pic>
      <p:sp>
        <p:nvSpPr>
          <p:cNvPr id="6" name="Text 3"/>
          <p:cNvSpPr/>
          <p:nvPr/>
        </p:nvSpPr>
        <p:spPr>
          <a:xfrm>
            <a:off x="731520" y="3063240"/>
            <a:ext cx="2201418" cy="365760"/>
          </a:xfrm>
          <a:prstGeom prst="rect">
            <a:avLst/>
          </a:prstGeom>
          <a:noFill/>
          <a:ln/>
        </p:spPr>
        <p:txBody>
          <a:bodyPr wrap="square" rtlCol="0" anchor="ctr"/>
          <a:lstStyle/>
          <a:p>
            <a:pPr algn="ctr" indent="0" marL="0">
              <a:buNone/>
            </a:pPr>
            <a:r>
              <a:rPr lang="en-US" sz="1300" b="1" spc="100" kern="0" dirty="0">
                <a:solidFill>
                  <a:srgbClr val="34D399"/>
                </a:solidFill>
                <a:latin typeface="Consolas" pitchFamily="34" charset="0"/>
                <a:ea typeface="Consolas" pitchFamily="34" charset="-122"/>
                <a:cs typeface="Consolas" pitchFamily="34" charset="-120"/>
              </a:rPr>
              <a:t>SPEED</a:t>
            </a:r>
            <a:endParaRPr lang="en-US" sz="1300" dirty="0"/>
          </a:p>
        </p:txBody>
      </p:sp>
      <p:sp>
        <p:nvSpPr>
          <p:cNvPr id="7" name="Text 4"/>
          <p:cNvSpPr/>
          <p:nvPr/>
        </p:nvSpPr>
        <p:spPr>
          <a:xfrm>
            <a:off x="777240" y="3611880"/>
            <a:ext cx="2109978" cy="1737360"/>
          </a:xfrm>
          <a:prstGeom prst="rect">
            <a:avLst/>
          </a:prstGeom>
          <a:noFill/>
          <a:ln/>
        </p:spPr>
        <p:txBody>
          <a:bodyPr wrap="square" rtlCol="0" anchor="ctr"/>
          <a:lstStyle/>
          <a:p>
            <a:pPr algn="ctr" indent="0" marL="0">
              <a:lnSpc>
                <a:spcPct val="120000"/>
              </a:lnSpc>
              <a:buNone/>
            </a:pPr>
            <a:r>
              <a:rPr lang="en-US" sz="1200" dirty="0">
                <a:solidFill>
                  <a:srgbClr val="94A3B8"/>
                </a:solidFill>
                <a:latin typeface="Arial" pitchFamily="34" charset="0"/>
                <a:ea typeface="Arial" pitchFamily="34" charset="-122"/>
                <a:cs typeface="Arial" pitchFamily="34" charset="-120"/>
              </a:rPr>
              <a:t>2 to 4 hours of manual review, down to under 2 minutes.</a:t>
            </a:r>
            <a:endParaRPr lang="en-US" sz="1200" dirty="0"/>
          </a:p>
        </p:txBody>
      </p:sp>
      <p:sp>
        <p:nvSpPr>
          <p:cNvPr id="8" name="Shape 5"/>
          <p:cNvSpPr/>
          <p:nvPr/>
        </p:nvSpPr>
        <p:spPr>
          <a:xfrm>
            <a:off x="3390138" y="1920240"/>
            <a:ext cx="2567178" cy="3657600"/>
          </a:xfrm>
          <a:prstGeom prst="roundRect">
            <a:avLst>
              <a:gd name="adj" fmla="val 2850"/>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9" name="Image 1" descr="/home/claude/aadfa_deck_v2/icons/users.png">    </p:cNvPr>
          <p:cNvPicPr>
            <a:picLocks noChangeAspect="1"/>
          </p:cNvPicPr>
          <p:nvPr/>
        </p:nvPicPr>
        <p:blipFill>
          <a:blip r:embed="rId2"/>
          <a:stretch>
            <a:fillRect/>
          </a:stretch>
        </p:blipFill>
        <p:spPr>
          <a:xfrm>
            <a:off x="4399407" y="2286000"/>
            <a:ext cx="548640" cy="548640"/>
          </a:xfrm>
          <a:prstGeom prst="rect">
            <a:avLst/>
          </a:prstGeom>
        </p:spPr>
      </p:pic>
      <p:sp>
        <p:nvSpPr>
          <p:cNvPr id="10" name="Text 6"/>
          <p:cNvSpPr/>
          <p:nvPr/>
        </p:nvSpPr>
        <p:spPr>
          <a:xfrm>
            <a:off x="3573018" y="3063240"/>
            <a:ext cx="2201418" cy="365760"/>
          </a:xfrm>
          <a:prstGeom prst="rect">
            <a:avLst/>
          </a:prstGeom>
          <a:noFill/>
          <a:ln/>
        </p:spPr>
        <p:txBody>
          <a:bodyPr wrap="square" rtlCol="0" anchor="ctr"/>
          <a:lstStyle/>
          <a:p>
            <a:pPr algn="ctr" indent="0" marL="0">
              <a:buNone/>
            </a:pPr>
            <a:r>
              <a:rPr lang="en-US" sz="1300" b="1" spc="100" kern="0" dirty="0">
                <a:solidFill>
                  <a:srgbClr val="34D399"/>
                </a:solidFill>
                <a:latin typeface="Consolas" pitchFamily="34" charset="0"/>
                <a:ea typeface="Consolas" pitchFamily="34" charset="-122"/>
                <a:cs typeface="Consolas" pitchFamily="34" charset="-120"/>
              </a:rPr>
              <a:t>INDEPENDENCE</a:t>
            </a:r>
            <a:endParaRPr lang="en-US" sz="1300" dirty="0"/>
          </a:p>
        </p:txBody>
      </p:sp>
      <p:sp>
        <p:nvSpPr>
          <p:cNvPr id="11" name="Text 7"/>
          <p:cNvSpPr/>
          <p:nvPr/>
        </p:nvSpPr>
        <p:spPr>
          <a:xfrm>
            <a:off x="3618738" y="3611880"/>
            <a:ext cx="2109978" cy="1737360"/>
          </a:xfrm>
          <a:prstGeom prst="rect">
            <a:avLst/>
          </a:prstGeom>
          <a:noFill/>
          <a:ln/>
        </p:spPr>
        <p:txBody>
          <a:bodyPr wrap="square" rtlCol="0" anchor="ctr"/>
          <a:lstStyle/>
          <a:p>
            <a:pPr algn="ctr" indent="0" marL="0">
              <a:lnSpc>
                <a:spcPct val="120000"/>
              </a:lnSpc>
              <a:buNone/>
            </a:pPr>
            <a:r>
              <a:rPr lang="en-US" sz="1200" dirty="0">
                <a:solidFill>
                  <a:srgbClr val="94A3B8"/>
                </a:solidFill>
                <a:latin typeface="Arial" pitchFamily="34" charset="0"/>
                <a:ea typeface="Arial" pitchFamily="34" charset="-122"/>
                <a:cs typeface="Arial" pitchFamily="34" charset="-120"/>
              </a:rPr>
              <a:t>Most incidents no longer need to wait on a senior specialist.</a:t>
            </a:r>
            <a:endParaRPr lang="en-US" sz="1200" dirty="0"/>
          </a:p>
        </p:txBody>
      </p:sp>
      <p:sp>
        <p:nvSpPr>
          <p:cNvPr id="12" name="Shape 8"/>
          <p:cNvSpPr/>
          <p:nvPr/>
        </p:nvSpPr>
        <p:spPr>
          <a:xfrm>
            <a:off x="6231636" y="1920240"/>
            <a:ext cx="2567178" cy="3657600"/>
          </a:xfrm>
          <a:prstGeom prst="roundRect">
            <a:avLst>
              <a:gd name="adj" fmla="val 2850"/>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13" name="Image 2" descr="/home/claude/aadfa_deck_v2/icons/check.png">    </p:cNvPr>
          <p:cNvPicPr>
            <a:picLocks noChangeAspect="1"/>
          </p:cNvPicPr>
          <p:nvPr/>
        </p:nvPicPr>
        <p:blipFill>
          <a:blip r:embed="rId3"/>
          <a:stretch>
            <a:fillRect/>
          </a:stretch>
        </p:blipFill>
        <p:spPr>
          <a:xfrm>
            <a:off x="7240905" y="2286000"/>
            <a:ext cx="548640" cy="548640"/>
          </a:xfrm>
          <a:prstGeom prst="rect">
            <a:avLst/>
          </a:prstGeom>
        </p:spPr>
      </p:pic>
      <p:sp>
        <p:nvSpPr>
          <p:cNvPr id="14" name="Text 9"/>
          <p:cNvSpPr/>
          <p:nvPr/>
        </p:nvSpPr>
        <p:spPr>
          <a:xfrm>
            <a:off x="6414516" y="3063240"/>
            <a:ext cx="2201418" cy="365760"/>
          </a:xfrm>
          <a:prstGeom prst="rect">
            <a:avLst/>
          </a:prstGeom>
          <a:noFill/>
          <a:ln/>
        </p:spPr>
        <p:txBody>
          <a:bodyPr wrap="square" rtlCol="0" anchor="ctr"/>
          <a:lstStyle/>
          <a:p>
            <a:pPr algn="ctr" indent="0" marL="0">
              <a:buNone/>
            </a:pPr>
            <a:r>
              <a:rPr lang="en-US" sz="1300" b="1" spc="100" kern="0" dirty="0">
                <a:solidFill>
                  <a:srgbClr val="34D399"/>
                </a:solidFill>
                <a:latin typeface="Consolas" pitchFamily="34" charset="0"/>
                <a:ea typeface="Consolas" pitchFamily="34" charset="-122"/>
                <a:cs typeface="Consolas" pitchFamily="34" charset="-120"/>
              </a:rPr>
              <a:t>CONSISTENCY</a:t>
            </a:r>
            <a:endParaRPr lang="en-US" sz="1300" dirty="0"/>
          </a:p>
        </p:txBody>
      </p:sp>
      <p:sp>
        <p:nvSpPr>
          <p:cNvPr id="15" name="Text 10"/>
          <p:cNvSpPr/>
          <p:nvPr/>
        </p:nvSpPr>
        <p:spPr>
          <a:xfrm>
            <a:off x="6460236" y="3611880"/>
            <a:ext cx="2109978" cy="1737360"/>
          </a:xfrm>
          <a:prstGeom prst="rect">
            <a:avLst/>
          </a:prstGeom>
          <a:noFill/>
          <a:ln/>
        </p:spPr>
        <p:txBody>
          <a:bodyPr wrap="square" rtlCol="0" anchor="ctr"/>
          <a:lstStyle/>
          <a:p>
            <a:pPr algn="ctr" indent="0" marL="0">
              <a:lnSpc>
                <a:spcPct val="120000"/>
              </a:lnSpc>
              <a:buNone/>
            </a:pPr>
            <a:r>
              <a:rPr lang="en-US" sz="1200" dirty="0">
                <a:solidFill>
                  <a:srgbClr val="94A3B8"/>
                </a:solidFill>
                <a:latin typeface="Arial" pitchFamily="34" charset="0"/>
                <a:ea typeface="Arial" pitchFamily="34" charset="-122"/>
                <a:cs typeface="Arial" pitchFamily="34" charset="-120"/>
              </a:rPr>
              <a:t>Every incident produces the same structured, audit-ready output.</a:t>
            </a:r>
            <a:endParaRPr lang="en-US" sz="1200" dirty="0"/>
          </a:p>
        </p:txBody>
      </p:sp>
      <p:sp>
        <p:nvSpPr>
          <p:cNvPr id="16" name="Shape 11"/>
          <p:cNvSpPr/>
          <p:nvPr/>
        </p:nvSpPr>
        <p:spPr>
          <a:xfrm>
            <a:off x="9073134" y="1920240"/>
            <a:ext cx="2567178" cy="3657600"/>
          </a:xfrm>
          <a:prstGeom prst="roundRect">
            <a:avLst>
              <a:gd name="adj" fmla="val 2850"/>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17" name="Image 3" descr="/home/claude/aadfa_deck_v2/icons/lock.png">    </p:cNvPr>
          <p:cNvPicPr>
            <a:picLocks noChangeAspect="1"/>
          </p:cNvPicPr>
          <p:nvPr/>
        </p:nvPicPr>
        <p:blipFill>
          <a:blip r:embed="rId4"/>
          <a:stretch>
            <a:fillRect/>
          </a:stretch>
        </p:blipFill>
        <p:spPr>
          <a:xfrm>
            <a:off x="10082403" y="2286000"/>
            <a:ext cx="548640" cy="548640"/>
          </a:xfrm>
          <a:prstGeom prst="rect">
            <a:avLst/>
          </a:prstGeom>
        </p:spPr>
      </p:pic>
      <p:sp>
        <p:nvSpPr>
          <p:cNvPr id="18" name="Text 12"/>
          <p:cNvSpPr/>
          <p:nvPr/>
        </p:nvSpPr>
        <p:spPr>
          <a:xfrm>
            <a:off x="9256014" y="3063240"/>
            <a:ext cx="2201418" cy="365760"/>
          </a:xfrm>
          <a:prstGeom prst="rect">
            <a:avLst/>
          </a:prstGeom>
          <a:noFill/>
          <a:ln/>
        </p:spPr>
        <p:txBody>
          <a:bodyPr wrap="square" rtlCol="0" anchor="ctr"/>
          <a:lstStyle/>
          <a:p>
            <a:pPr algn="ctr" indent="0" marL="0">
              <a:buNone/>
            </a:pPr>
            <a:r>
              <a:rPr lang="en-US" sz="1300" b="1" spc="100" kern="0" dirty="0">
                <a:solidFill>
                  <a:srgbClr val="34D399"/>
                </a:solidFill>
                <a:latin typeface="Consolas" pitchFamily="34" charset="0"/>
                <a:ea typeface="Consolas" pitchFamily="34" charset="-122"/>
                <a:cs typeface="Consolas" pitchFamily="34" charset="-120"/>
              </a:rPr>
              <a:t>SECURITY</a:t>
            </a:r>
            <a:endParaRPr lang="en-US" sz="1300" dirty="0"/>
          </a:p>
        </p:txBody>
      </p:sp>
      <p:sp>
        <p:nvSpPr>
          <p:cNvPr id="19" name="Text 13"/>
          <p:cNvSpPr/>
          <p:nvPr/>
        </p:nvSpPr>
        <p:spPr>
          <a:xfrm>
            <a:off x="9301734" y="3611880"/>
            <a:ext cx="2109978" cy="1737360"/>
          </a:xfrm>
          <a:prstGeom prst="rect">
            <a:avLst/>
          </a:prstGeom>
          <a:noFill/>
          <a:ln/>
        </p:spPr>
        <p:txBody>
          <a:bodyPr wrap="square" rtlCol="0" anchor="ctr"/>
          <a:lstStyle/>
          <a:p>
            <a:pPr algn="ctr" indent="0" marL="0">
              <a:lnSpc>
                <a:spcPct val="120000"/>
              </a:lnSpc>
              <a:buNone/>
            </a:pPr>
            <a:r>
              <a:rPr lang="en-US" sz="1200" dirty="0">
                <a:solidFill>
                  <a:srgbClr val="94A3B8"/>
                </a:solidFill>
                <a:latin typeface="Arial" pitchFamily="34" charset="0"/>
                <a:ea typeface="Arial" pitchFamily="34" charset="-122"/>
                <a:cs typeface="Arial" pitchFamily="34" charset="-120"/>
              </a:rPr>
              <a:t>Zero data leaves LTI's infrastructure — by architecture, not policy.</a:t>
            </a:r>
            <a:endParaRPr lang="en-US" sz="1200" dirty="0"/>
          </a:p>
        </p:txBody>
      </p:sp>
      <p:sp>
        <p:nvSpPr>
          <p:cNvPr id="20" name="Text 14"/>
          <p:cNvSpPr/>
          <p:nvPr/>
        </p:nvSpPr>
        <p:spPr>
          <a:xfrm>
            <a:off x="11548872" y="6473952"/>
            <a:ext cx="457200" cy="274320"/>
          </a:xfrm>
          <a:prstGeom prst="rect">
            <a:avLst/>
          </a:prstGeom>
          <a:noFill/>
          <a:ln/>
        </p:spPr>
        <p:txBody>
          <a:bodyPr wrap="square" rtlCol="0" anchor="ctr"/>
          <a:lstStyle/>
          <a:p>
            <a:pPr algn="r" indent="0" marL="0">
              <a:buNone/>
            </a:pPr>
            <a:r>
              <a:rPr lang="en-US" sz="900" dirty="0">
                <a:solidFill>
                  <a:srgbClr val="5B6576"/>
                </a:solidFill>
                <a:latin typeface="Consolas" pitchFamily="34" charset="0"/>
                <a:ea typeface="Consolas" pitchFamily="34" charset="-122"/>
                <a:cs typeface="Consolas"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E14"/>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200" kern="0" dirty="0">
                <a:solidFill>
                  <a:srgbClr val="F59E0B"/>
                </a:solidFill>
                <a:latin typeface="Consolas" pitchFamily="34" charset="0"/>
                <a:ea typeface="Consolas" pitchFamily="34" charset="-122"/>
                <a:cs typeface="Consolas" pitchFamily="34" charset="-120"/>
              </a:rPr>
              <a:t>IMPLEMENTATION POTENTIAL</a:t>
            </a:r>
            <a:endParaRPr lang="en-US" sz="1200" dirty="0"/>
          </a:p>
        </p:txBody>
      </p:sp>
      <p:sp>
        <p:nvSpPr>
          <p:cNvPr id="3" name="Text 1"/>
          <p:cNvSpPr/>
          <p:nvPr/>
        </p:nvSpPr>
        <p:spPr>
          <a:xfrm>
            <a:off x="548640" y="713232"/>
            <a:ext cx="10881360" cy="822960"/>
          </a:xfrm>
          <a:prstGeom prst="rect">
            <a:avLst/>
          </a:prstGeom>
          <a:noFill/>
          <a:ln/>
        </p:spPr>
        <p:txBody>
          <a:bodyPr wrap="square" rtlCol="0" anchor="ctr"/>
          <a:lstStyle/>
          <a:p>
            <a:pPr indent="0" marL="0">
              <a:buNone/>
            </a:pPr>
            <a:r>
              <a:rPr lang="en-US" sz="3200" b="1" dirty="0">
                <a:solidFill>
                  <a:srgbClr val="F1F5F9"/>
                </a:solidFill>
                <a:latin typeface="Arial" pitchFamily="34" charset="0"/>
                <a:ea typeface="Arial" pitchFamily="34" charset="-122"/>
                <a:cs typeface="Arial" pitchFamily="34" charset="-120"/>
              </a:rPr>
              <a:t>Path to Production</a:t>
            </a:r>
            <a:endParaRPr lang="en-US" sz="3200" dirty="0"/>
          </a:p>
        </p:txBody>
      </p:sp>
      <p:sp>
        <p:nvSpPr>
          <p:cNvPr id="4" name="Shape 2"/>
          <p:cNvSpPr/>
          <p:nvPr/>
        </p:nvSpPr>
        <p:spPr>
          <a:xfrm>
            <a:off x="548640" y="1874520"/>
            <a:ext cx="11064240" cy="1005840"/>
          </a:xfrm>
          <a:prstGeom prst="roundRect">
            <a:avLst>
              <a:gd name="adj" fmla="val 7273"/>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5" name="Image 0" descr="/home/claude/aadfa_deck_v2/icons/layers.png">    </p:cNvPr>
          <p:cNvPicPr>
            <a:picLocks noChangeAspect="1"/>
          </p:cNvPicPr>
          <p:nvPr/>
        </p:nvPicPr>
        <p:blipFill>
          <a:blip r:embed="rId1"/>
          <a:stretch>
            <a:fillRect/>
          </a:stretch>
        </p:blipFill>
        <p:spPr>
          <a:xfrm>
            <a:off x="822960" y="2121408"/>
            <a:ext cx="512064" cy="512064"/>
          </a:xfrm>
          <a:prstGeom prst="rect">
            <a:avLst/>
          </a:prstGeom>
        </p:spPr>
      </p:pic>
      <p:sp>
        <p:nvSpPr>
          <p:cNvPr id="6" name="Text 3"/>
          <p:cNvSpPr/>
          <p:nvPr/>
        </p:nvSpPr>
        <p:spPr>
          <a:xfrm>
            <a:off x="1600200" y="1874520"/>
            <a:ext cx="9784080" cy="1005840"/>
          </a:xfrm>
          <a:prstGeom prst="rect">
            <a:avLst/>
          </a:prstGeom>
          <a:noFill/>
          <a:ln/>
        </p:spPr>
        <p:txBody>
          <a:bodyPr wrap="square" rtlCol="0" anchor="ctr"/>
          <a:lstStyle/>
          <a:p>
            <a:pPr indent="0" marL="0">
              <a:buNone/>
            </a:pPr>
            <a:r>
              <a:rPr lang="en-US" sz="1400" dirty="0">
                <a:solidFill>
                  <a:srgbClr val="F1F5F9"/>
                </a:solidFill>
                <a:latin typeface="Arial" pitchFamily="34" charset="0"/>
                <a:ea typeface="Arial" pitchFamily="34" charset="-122"/>
                <a:cs typeface="Arial" pitchFamily="34" charset="-120"/>
              </a:rPr>
              <a:t>Multi-tenant support, so DFA can serve more than one team or client from a single deployment.</a:t>
            </a:r>
            <a:endParaRPr lang="en-US" sz="1400" dirty="0"/>
          </a:p>
        </p:txBody>
      </p:sp>
      <p:sp>
        <p:nvSpPr>
          <p:cNvPr id="7" name="Shape 4"/>
          <p:cNvSpPr/>
          <p:nvPr/>
        </p:nvSpPr>
        <p:spPr>
          <a:xfrm>
            <a:off x="548640" y="3017520"/>
            <a:ext cx="11064240" cy="1005840"/>
          </a:xfrm>
          <a:prstGeom prst="roundRect">
            <a:avLst>
              <a:gd name="adj" fmla="val 7273"/>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8" name="Image 1" descr="/home/claude/aadfa_deck_v2/icons/file.png">    </p:cNvPr>
          <p:cNvPicPr>
            <a:picLocks noChangeAspect="1"/>
          </p:cNvPicPr>
          <p:nvPr/>
        </p:nvPicPr>
        <p:blipFill>
          <a:blip r:embed="rId2"/>
          <a:stretch>
            <a:fillRect/>
          </a:stretch>
        </p:blipFill>
        <p:spPr>
          <a:xfrm>
            <a:off x="822960" y="3264408"/>
            <a:ext cx="512064" cy="512064"/>
          </a:xfrm>
          <a:prstGeom prst="rect">
            <a:avLst/>
          </a:prstGeom>
        </p:spPr>
      </p:pic>
      <p:sp>
        <p:nvSpPr>
          <p:cNvPr id="9" name="Text 5"/>
          <p:cNvSpPr/>
          <p:nvPr/>
        </p:nvSpPr>
        <p:spPr>
          <a:xfrm>
            <a:off x="1600200" y="3017520"/>
            <a:ext cx="9784080" cy="1005840"/>
          </a:xfrm>
          <a:prstGeom prst="rect">
            <a:avLst/>
          </a:prstGeom>
          <a:noFill/>
          <a:ln/>
        </p:spPr>
        <p:txBody>
          <a:bodyPr wrap="square" rtlCol="0" anchor="ctr"/>
          <a:lstStyle/>
          <a:p>
            <a:pPr indent="0" marL="0">
              <a:buNone/>
            </a:pPr>
            <a:r>
              <a:rPr lang="en-US" sz="1400" dirty="0">
                <a:solidFill>
                  <a:srgbClr val="F1F5F9"/>
                </a:solidFill>
                <a:latin typeface="Arial" pitchFamily="34" charset="0"/>
                <a:ea typeface="Arial" pitchFamily="34" charset="-122"/>
                <a:cs typeface="Arial" pitchFamily="34" charset="-120"/>
              </a:rPr>
              <a:t>Expanded log format coverage — beyond auth/syslog/JSON, into firewall and cloud provider logs.</a:t>
            </a:r>
            <a:endParaRPr lang="en-US" sz="1400" dirty="0"/>
          </a:p>
        </p:txBody>
      </p:sp>
      <p:sp>
        <p:nvSpPr>
          <p:cNvPr id="10" name="Shape 6"/>
          <p:cNvSpPr/>
          <p:nvPr/>
        </p:nvSpPr>
        <p:spPr>
          <a:xfrm>
            <a:off x="548640" y="4160520"/>
            <a:ext cx="11064240" cy="1005840"/>
          </a:xfrm>
          <a:prstGeom prst="roundRect">
            <a:avLst>
              <a:gd name="adj" fmla="val 7273"/>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11" name="Image 2" descr="/home/claude/aadfa_deck_v2/icons/target.png">    </p:cNvPr>
          <p:cNvPicPr>
            <a:picLocks noChangeAspect="1"/>
          </p:cNvPicPr>
          <p:nvPr/>
        </p:nvPicPr>
        <p:blipFill>
          <a:blip r:embed="rId3"/>
          <a:stretch>
            <a:fillRect/>
          </a:stretch>
        </p:blipFill>
        <p:spPr>
          <a:xfrm>
            <a:off x="822960" y="4407408"/>
            <a:ext cx="512064" cy="512064"/>
          </a:xfrm>
          <a:prstGeom prst="rect">
            <a:avLst/>
          </a:prstGeom>
        </p:spPr>
      </p:pic>
      <p:sp>
        <p:nvSpPr>
          <p:cNvPr id="12" name="Text 7"/>
          <p:cNvSpPr/>
          <p:nvPr/>
        </p:nvSpPr>
        <p:spPr>
          <a:xfrm>
            <a:off x="1600200" y="4160520"/>
            <a:ext cx="9784080" cy="1005840"/>
          </a:xfrm>
          <a:prstGeom prst="rect">
            <a:avLst/>
          </a:prstGeom>
          <a:noFill/>
          <a:ln/>
        </p:spPr>
        <p:txBody>
          <a:bodyPr wrap="square" rtlCol="0" anchor="ctr"/>
          <a:lstStyle/>
          <a:p>
            <a:pPr indent="0" marL="0">
              <a:buNone/>
            </a:pPr>
            <a:r>
              <a:rPr lang="en-US" sz="1400" dirty="0">
                <a:solidFill>
                  <a:srgbClr val="F1F5F9"/>
                </a:solidFill>
                <a:latin typeface="Arial" pitchFamily="34" charset="0"/>
                <a:ea typeface="Arial" pitchFamily="34" charset="-122"/>
                <a:cs typeface="Arial" pitchFamily="34" charset="-120"/>
              </a:rPr>
              <a:t>Formal accuracy benchmarking against a labeled incident test set, published with each release.</a:t>
            </a:r>
            <a:endParaRPr lang="en-US" sz="1400" dirty="0"/>
          </a:p>
        </p:txBody>
      </p:sp>
      <p:sp>
        <p:nvSpPr>
          <p:cNvPr id="13" name="Shape 8"/>
          <p:cNvSpPr/>
          <p:nvPr/>
        </p:nvSpPr>
        <p:spPr>
          <a:xfrm>
            <a:off x="548640" y="5303520"/>
            <a:ext cx="11064240" cy="1005840"/>
          </a:xfrm>
          <a:prstGeom prst="roundRect">
            <a:avLst>
              <a:gd name="adj" fmla="val 7273"/>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14" name="Image 3" descr="/home/claude/aadfa_deck_v2/icons/lock.png">    </p:cNvPr>
          <p:cNvPicPr>
            <a:picLocks noChangeAspect="1"/>
          </p:cNvPicPr>
          <p:nvPr/>
        </p:nvPicPr>
        <p:blipFill>
          <a:blip r:embed="rId4"/>
          <a:stretch>
            <a:fillRect/>
          </a:stretch>
        </p:blipFill>
        <p:spPr>
          <a:xfrm>
            <a:off x="822960" y="5550408"/>
            <a:ext cx="512064" cy="512064"/>
          </a:xfrm>
          <a:prstGeom prst="rect">
            <a:avLst/>
          </a:prstGeom>
        </p:spPr>
      </p:pic>
      <p:sp>
        <p:nvSpPr>
          <p:cNvPr id="15" name="Text 9"/>
          <p:cNvSpPr/>
          <p:nvPr/>
        </p:nvSpPr>
        <p:spPr>
          <a:xfrm>
            <a:off x="1600200" y="5303520"/>
            <a:ext cx="9784080" cy="1005840"/>
          </a:xfrm>
          <a:prstGeom prst="rect">
            <a:avLst/>
          </a:prstGeom>
          <a:noFill/>
          <a:ln/>
        </p:spPr>
        <p:txBody>
          <a:bodyPr wrap="square" rtlCol="0" anchor="ctr"/>
          <a:lstStyle/>
          <a:p>
            <a:pPr indent="0" marL="0">
              <a:buNone/>
            </a:pPr>
            <a:r>
              <a:rPr lang="en-US" sz="1400" dirty="0">
                <a:solidFill>
                  <a:srgbClr val="F1F5F9"/>
                </a:solidFill>
                <a:latin typeface="Arial" pitchFamily="34" charset="0"/>
                <a:ea typeface="Arial" pitchFamily="34" charset="-122"/>
                <a:cs typeface="Arial" pitchFamily="34" charset="-120"/>
              </a:rPr>
              <a:t>Role-based access control and audit logging ahead of any production rollout.</a:t>
            </a:r>
            <a:endParaRPr lang="en-US" sz="1400" dirty="0"/>
          </a:p>
        </p:txBody>
      </p:sp>
      <p:sp>
        <p:nvSpPr>
          <p:cNvPr id="16" name="Text 10"/>
          <p:cNvSpPr/>
          <p:nvPr/>
        </p:nvSpPr>
        <p:spPr>
          <a:xfrm>
            <a:off x="11548872" y="6473952"/>
            <a:ext cx="457200" cy="274320"/>
          </a:xfrm>
          <a:prstGeom prst="rect">
            <a:avLst/>
          </a:prstGeom>
          <a:noFill/>
          <a:ln/>
        </p:spPr>
        <p:txBody>
          <a:bodyPr wrap="square" rtlCol="0" anchor="ctr"/>
          <a:lstStyle/>
          <a:p>
            <a:pPr algn="r" indent="0" marL="0">
              <a:buNone/>
            </a:pPr>
            <a:r>
              <a:rPr lang="en-US" sz="900" dirty="0">
                <a:solidFill>
                  <a:srgbClr val="5B6576"/>
                </a:solidFill>
                <a:latin typeface="Consolas" pitchFamily="34" charset="0"/>
                <a:ea typeface="Consolas" pitchFamily="34" charset="-122"/>
                <a:cs typeface="Consolas"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E14"/>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200" kern="0" dirty="0">
                <a:solidFill>
                  <a:srgbClr val="22D3EE"/>
                </a:solidFill>
                <a:latin typeface="Consolas" pitchFamily="34" charset="0"/>
                <a:ea typeface="Consolas" pitchFamily="34" charset="-122"/>
                <a:cs typeface="Consolas" pitchFamily="34" charset="-120"/>
              </a:rPr>
              <a:t>DEMO</a:t>
            </a:r>
            <a:endParaRPr lang="en-US" sz="1200" dirty="0"/>
          </a:p>
        </p:txBody>
      </p:sp>
      <p:sp>
        <p:nvSpPr>
          <p:cNvPr id="3" name="Text 1"/>
          <p:cNvSpPr/>
          <p:nvPr/>
        </p:nvSpPr>
        <p:spPr>
          <a:xfrm>
            <a:off x="548640" y="713232"/>
            <a:ext cx="10881360" cy="822960"/>
          </a:xfrm>
          <a:prstGeom prst="rect">
            <a:avLst/>
          </a:prstGeom>
          <a:noFill/>
          <a:ln/>
        </p:spPr>
        <p:txBody>
          <a:bodyPr wrap="square" rtlCol="0" anchor="ctr"/>
          <a:lstStyle/>
          <a:p>
            <a:pPr indent="0" marL="0">
              <a:buNone/>
            </a:pPr>
            <a:r>
              <a:rPr lang="en-US" sz="3200" b="1" dirty="0">
                <a:solidFill>
                  <a:srgbClr val="F1F5F9"/>
                </a:solidFill>
                <a:latin typeface="Arial" pitchFamily="34" charset="0"/>
                <a:ea typeface="Arial" pitchFamily="34" charset="-122"/>
                <a:cs typeface="Arial" pitchFamily="34" charset="-120"/>
              </a:rPr>
              <a:t>Let's See It Live</a:t>
            </a:r>
            <a:endParaRPr lang="en-US" sz="3200" dirty="0"/>
          </a:p>
        </p:txBody>
      </p:sp>
      <p:sp>
        <p:nvSpPr>
          <p:cNvPr id="4" name="Text 2"/>
          <p:cNvSpPr/>
          <p:nvPr/>
        </p:nvSpPr>
        <p:spPr>
          <a:xfrm>
            <a:off x="548640" y="1691640"/>
            <a:ext cx="11064240" cy="548640"/>
          </a:xfrm>
          <a:prstGeom prst="rect">
            <a:avLst/>
          </a:prstGeom>
          <a:noFill/>
          <a:ln/>
        </p:spPr>
        <p:txBody>
          <a:bodyPr wrap="square" rtlCol="0" anchor="ctr"/>
          <a:lstStyle/>
          <a:p>
            <a:pPr indent="0" marL="0">
              <a:buNone/>
            </a:pPr>
            <a:r>
              <a:rPr lang="en-US" sz="1600" i="1" dirty="0">
                <a:solidFill>
                  <a:srgbClr val="94A3B8"/>
                </a:solidFill>
                <a:latin typeface="Arial" pitchFamily="34" charset="0"/>
                <a:ea typeface="Arial" pitchFamily="34" charset="-122"/>
                <a:cs typeface="Arial" pitchFamily="34" charset="-120"/>
              </a:rPr>
              <a:t>Everything you're about to see is running on LTI's actual infrastructure. Nothing here is simulated.</a:t>
            </a:r>
            <a:endParaRPr lang="en-US" sz="1600" dirty="0"/>
          </a:p>
        </p:txBody>
      </p:sp>
      <p:sp>
        <p:nvSpPr>
          <p:cNvPr id="5" name="Shape 3"/>
          <p:cNvSpPr/>
          <p:nvPr/>
        </p:nvSpPr>
        <p:spPr>
          <a:xfrm>
            <a:off x="1522476" y="3017520"/>
            <a:ext cx="2743200" cy="2377440"/>
          </a:xfrm>
          <a:prstGeom prst="roundRect">
            <a:avLst>
              <a:gd name="adj" fmla="val 3077"/>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6" name="Image 0" descr="/home/claude/aadfa_deck_v2/icons/upload.png">    </p:cNvPr>
          <p:cNvPicPr>
            <a:picLocks noChangeAspect="1"/>
          </p:cNvPicPr>
          <p:nvPr/>
        </p:nvPicPr>
        <p:blipFill>
          <a:blip r:embed="rId1"/>
          <a:stretch>
            <a:fillRect/>
          </a:stretch>
        </p:blipFill>
        <p:spPr>
          <a:xfrm>
            <a:off x="2482596" y="3520440"/>
            <a:ext cx="822960" cy="822960"/>
          </a:xfrm>
          <a:prstGeom prst="rect">
            <a:avLst/>
          </a:prstGeom>
        </p:spPr>
      </p:pic>
      <p:sp>
        <p:nvSpPr>
          <p:cNvPr id="7" name="Text 4"/>
          <p:cNvSpPr/>
          <p:nvPr/>
        </p:nvSpPr>
        <p:spPr>
          <a:xfrm>
            <a:off x="1522476" y="4572000"/>
            <a:ext cx="2743200" cy="548640"/>
          </a:xfrm>
          <a:prstGeom prst="rect">
            <a:avLst/>
          </a:prstGeom>
          <a:noFill/>
          <a:ln/>
        </p:spPr>
        <p:txBody>
          <a:bodyPr wrap="square" rtlCol="0" anchor="t"/>
          <a:lstStyle/>
          <a:p>
            <a:pPr algn="ctr" indent="0" marL="0">
              <a:buNone/>
            </a:pPr>
            <a:r>
              <a:rPr lang="en-US" sz="1700" b="1" dirty="0">
                <a:solidFill>
                  <a:srgbClr val="F1F5F9"/>
                </a:solidFill>
                <a:latin typeface="Arial" pitchFamily="34" charset="0"/>
                <a:ea typeface="Arial" pitchFamily="34" charset="-122"/>
                <a:cs typeface="Arial" pitchFamily="34" charset="-120"/>
              </a:rPr>
              <a:t>Upload</a:t>
            </a:r>
            <a:endParaRPr lang="en-US" sz="1700" dirty="0"/>
          </a:p>
        </p:txBody>
      </p:sp>
      <p:sp>
        <p:nvSpPr>
          <p:cNvPr id="8" name="Shape 5"/>
          <p:cNvSpPr/>
          <p:nvPr/>
        </p:nvSpPr>
        <p:spPr>
          <a:xfrm>
            <a:off x="4265676" y="4197096"/>
            <a:ext cx="457200" cy="0"/>
          </a:xfrm>
          <a:prstGeom prst="line">
            <a:avLst/>
          </a:prstGeom>
          <a:noFill/>
          <a:ln w="25400">
            <a:solidFill>
              <a:srgbClr val="5B6576"/>
            </a:solidFill>
            <a:prstDash val="solid"/>
            <a:tailEnd type="triangle"/>
          </a:ln>
        </p:spPr>
      </p:sp>
      <p:sp>
        <p:nvSpPr>
          <p:cNvPr id="9" name="Shape 6"/>
          <p:cNvSpPr/>
          <p:nvPr/>
        </p:nvSpPr>
        <p:spPr>
          <a:xfrm>
            <a:off x="4722876" y="3017520"/>
            <a:ext cx="2743200" cy="2377440"/>
          </a:xfrm>
          <a:prstGeom prst="roundRect">
            <a:avLst>
              <a:gd name="adj" fmla="val 3077"/>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10" name="Image 1" descr="/home/claude/aadfa_deck_v2/icons/play.png">    </p:cNvPr>
          <p:cNvPicPr>
            <a:picLocks noChangeAspect="1"/>
          </p:cNvPicPr>
          <p:nvPr/>
        </p:nvPicPr>
        <p:blipFill>
          <a:blip r:embed="rId2"/>
          <a:stretch>
            <a:fillRect/>
          </a:stretch>
        </p:blipFill>
        <p:spPr>
          <a:xfrm>
            <a:off x="5682996" y="3520440"/>
            <a:ext cx="822960" cy="822960"/>
          </a:xfrm>
          <a:prstGeom prst="rect">
            <a:avLst/>
          </a:prstGeom>
        </p:spPr>
      </p:pic>
      <p:sp>
        <p:nvSpPr>
          <p:cNvPr id="11" name="Text 7"/>
          <p:cNvSpPr/>
          <p:nvPr/>
        </p:nvSpPr>
        <p:spPr>
          <a:xfrm>
            <a:off x="4722876" y="4572000"/>
            <a:ext cx="2743200" cy="548640"/>
          </a:xfrm>
          <a:prstGeom prst="rect">
            <a:avLst/>
          </a:prstGeom>
          <a:noFill/>
          <a:ln/>
        </p:spPr>
        <p:txBody>
          <a:bodyPr wrap="square" rtlCol="0" anchor="t"/>
          <a:lstStyle/>
          <a:p>
            <a:pPr algn="ctr" indent="0" marL="0">
              <a:buNone/>
            </a:pPr>
            <a:r>
              <a:rPr lang="en-US" sz="1700" b="1" dirty="0">
                <a:solidFill>
                  <a:srgbClr val="F1F5F9"/>
                </a:solidFill>
                <a:latin typeface="Arial" pitchFamily="34" charset="0"/>
                <a:ea typeface="Arial" pitchFamily="34" charset="-122"/>
                <a:cs typeface="Arial" pitchFamily="34" charset="-120"/>
              </a:rPr>
              <a:t>Analyze</a:t>
            </a:r>
            <a:endParaRPr lang="en-US" sz="1700" dirty="0"/>
          </a:p>
        </p:txBody>
      </p:sp>
      <p:sp>
        <p:nvSpPr>
          <p:cNvPr id="12" name="Shape 8"/>
          <p:cNvSpPr/>
          <p:nvPr/>
        </p:nvSpPr>
        <p:spPr>
          <a:xfrm>
            <a:off x="7466076" y="4197096"/>
            <a:ext cx="457200" cy="0"/>
          </a:xfrm>
          <a:prstGeom prst="line">
            <a:avLst/>
          </a:prstGeom>
          <a:noFill/>
          <a:ln w="25400">
            <a:solidFill>
              <a:srgbClr val="5B6576"/>
            </a:solidFill>
            <a:prstDash val="solid"/>
            <a:tailEnd type="triangle"/>
          </a:ln>
        </p:spPr>
      </p:sp>
      <p:sp>
        <p:nvSpPr>
          <p:cNvPr id="13" name="Shape 9"/>
          <p:cNvSpPr/>
          <p:nvPr/>
        </p:nvSpPr>
        <p:spPr>
          <a:xfrm>
            <a:off x="7923276" y="3017520"/>
            <a:ext cx="2743200" cy="2377440"/>
          </a:xfrm>
          <a:prstGeom prst="roundRect">
            <a:avLst>
              <a:gd name="adj" fmla="val 3077"/>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14" name="Image 2" descr="/home/claude/aadfa_deck_v2/icons/fileCheck.png">    </p:cNvPr>
          <p:cNvPicPr>
            <a:picLocks noChangeAspect="1"/>
          </p:cNvPicPr>
          <p:nvPr/>
        </p:nvPicPr>
        <p:blipFill>
          <a:blip r:embed="rId3"/>
          <a:stretch>
            <a:fillRect/>
          </a:stretch>
        </p:blipFill>
        <p:spPr>
          <a:xfrm>
            <a:off x="8883396" y="3520440"/>
            <a:ext cx="822960" cy="822960"/>
          </a:xfrm>
          <a:prstGeom prst="rect">
            <a:avLst/>
          </a:prstGeom>
        </p:spPr>
      </p:pic>
      <p:sp>
        <p:nvSpPr>
          <p:cNvPr id="15" name="Text 10"/>
          <p:cNvSpPr/>
          <p:nvPr/>
        </p:nvSpPr>
        <p:spPr>
          <a:xfrm>
            <a:off x="7923276" y="4572000"/>
            <a:ext cx="2743200" cy="548640"/>
          </a:xfrm>
          <a:prstGeom prst="rect">
            <a:avLst/>
          </a:prstGeom>
          <a:noFill/>
          <a:ln/>
        </p:spPr>
        <p:txBody>
          <a:bodyPr wrap="square" rtlCol="0" anchor="t"/>
          <a:lstStyle/>
          <a:p>
            <a:pPr algn="ctr" indent="0" marL="0">
              <a:buNone/>
            </a:pPr>
            <a:r>
              <a:rPr lang="en-US" sz="1700" b="1" dirty="0">
                <a:solidFill>
                  <a:srgbClr val="F1F5F9"/>
                </a:solidFill>
                <a:latin typeface="Arial" pitchFamily="34" charset="0"/>
                <a:ea typeface="Arial" pitchFamily="34" charset="-122"/>
                <a:cs typeface="Arial" pitchFamily="34" charset="-120"/>
              </a:rPr>
              <a:t>Report</a:t>
            </a:r>
            <a:endParaRPr lang="en-US" sz="1700" dirty="0"/>
          </a:p>
        </p:txBody>
      </p:sp>
      <p:sp>
        <p:nvSpPr>
          <p:cNvPr id="16" name="Text 11"/>
          <p:cNvSpPr/>
          <p:nvPr/>
        </p:nvSpPr>
        <p:spPr>
          <a:xfrm>
            <a:off x="11548872" y="6473952"/>
            <a:ext cx="457200" cy="274320"/>
          </a:xfrm>
          <a:prstGeom prst="rect">
            <a:avLst/>
          </a:prstGeom>
          <a:noFill/>
          <a:ln/>
        </p:spPr>
        <p:txBody>
          <a:bodyPr wrap="square" rtlCol="0" anchor="ctr"/>
          <a:lstStyle/>
          <a:p>
            <a:pPr algn="r" indent="0" marL="0">
              <a:buNone/>
            </a:pPr>
            <a:r>
              <a:rPr lang="en-US" sz="900" dirty="0">
                <a:solidFill>
                  <a:srgbClr val="5B6576"/>
                </a:solidFill>
                <a:latin typeface="Consolas" pitchFamily="34" charset="0"/>
                <a:ea typeface="Consolas" pitchFamily="34" charset="-122"/>
                <a:cs typeface="Consola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E14"/>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200" b="1" spc="200" kern="0" dirty="0">
                <a:solidFill>
                  <a:srgbClr val="F59E0B"/>
                </a:solidFill>
                <a:latin typeface="Consolas" pitchFamily="34" charset="0"/>
                <a:ea typeface="Consolas" pitchFamily="34" charset="-122"/>
                <a:cs typeface="Consolas" pitchFamily="34" charset="-120"/>
              </a:rPr>
              <a:t>LESSONS LEARNED</a:t>
            </a:r>
            <a:endParaRPr lang="en-US" sz="1200" dirty="0"/>
          </a:p>
        </p:txBody>
      </p:sp>
      <p:sp>
        <p:nvSpPr>
          <p:cNvPr id="3" name="Text 1"/>
          <p:cNvSpPr/>
          <p:nvPr/>
        </p:nvSpPr>
        <p:spPr>
          <a:xfrm>
            <a:off x="548640" y="713232"/>
            <a:ext cx="10881360" cy="822960"/>
          </a:xfrm>
          <a:prstGeom prst="rect">
            <a:avLst/>
          </a:prstGeom>
          <a:noFill/>
          <a:ln/>
        </p:spPr>
        <p:txBody>
          <a:bodyPr wrap="square" rtlCol="0" anchor="ctr"/>
          <a:lstStyle/>
          <a:p>
            <a:pPr indent="0" marL="0">
              <a:buNone/>
            </a:pPr>
            <a:r>
              <a:rPr lang="en-US" sz="3200" b="1" dirty="0">
                <a:solidFill>
                  <a:srgbClr val="F1F5F9"/>
                </a:solidFill>
                <a:latin typeface="Arial" pitchFamily="34" charset="0"/>
                <a:ea typeface="Arial" pitchFamily="34" charset="-122"/>
                <a:cs typeface="Arial" pitchFamily="34" charset="-120"/>
              </a:rPr>
              <a:t>What We Learned</a:t>
            </a:r>
            <a:endParaRPr lang="en-US" sz="3200" dirty="0"/>
          </a:p>
        </p:txBody>
      </p:sp>
      <p:sp>
        <p:nvSpPr>
          <p:cNvPr id="4" name="Shape 2"/>
          <p:cNvSpPr/>
          <p:nvPr/>
        </p:nvSpPr>
        <p:spPr>
          <a:xfrm>
            <a:off x="548640" y="1920240"/>
            <a:ext cx="11064240" cy="1325880"/>
          </a:xfrm>
          <a:prstGeom prst="roundRect">
            <a:avLst>
              <a:gd name="adj" fmla="val 5517"/>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5" name="Image 0" descr="/home/claude/aadfa_deck_v2/icons/bot.png">    </p:cNvPr>
          <p:cNvPicPr>
            <a:picLocks noChangeAspect="1"/>
          </p:cNvPicPr>
          <p:nvPr/>
        </p:nvPicPr>
        <p:blipFill>
          <a:blip r:embed="rId1"/>
          <a:stretch>
            <a:fillRect/>
          </a:stretch>
        </p:blipFill>
        <p:spPr>
          <a:xfrm>
            <a:off x="868680" y="2308860"/>
            <a:ext cx="548640" cy="548640"/>
          </a:xfrm>
          <a:prstGeom prst="rect">
            <a:avLst/>
          </a:prstGeom>
        </p:spPr>
      </p:pic>
      <p:sp>
        <p:nvSpPr>
          <p:cNvPr id="6" name="Text 3"/>
          <p:cNvSpPr/>
          <p:nvPr/>
        </p:nvSpPr>
        <p:spPr>
          <a:xfrm>
            <a:off x="1874520" y="2057400"/>
            <a:ext cx="9509760" cy="1051560"/>
          </a:xfrm>
          <a:prstGeom prst="rect">
            <a:avLst/>
          </a:prstGeom>
          <a:noFill/>
          <a:ln/>
        </p:spPr>
        <p:txBody>
          <a:bodyPr wrap="square" rtlCol="0" anchor="ctr"/>
          <a:lstStyle/>
          <a:p>
            <a:pPr indent="0" marL="0">
              <a:lnSpc>
                <a:spcPct val="120000"/>
              </a:lnSpc>
              <a:buNone/>
            </a:pPr>
            <a:r>
              <a:rPr lang="en-US" sz="1350" dirty="0">
                <a:solidFill>
                  <a:srgbClr val="F1F5F9"/>
                </a:solidFill>
                <a:latin typeface="Arial" pitchFamily="34" charset="0"/>
                <a:ea typeface="Arial" pitchFamily="34" charset="-122"/>
                <a:cs typeface="Arial" pitchFamily="34" charset="-120"/>
              </a:rPr>
              <a:t>Early AI outputs were generic until we iterated on prompt design and grounded the model with structured input — a reminder that AI quality is an engineering problem, not a model-choice problem.</a:t>
            </a:r>
            <a:endParaRPr lang="en-US" sz="1350" dirty="0"/>
          </a:p>
        </p:txBody>
      </p:sp>
      <p:sp>
        <p:nvSpPr>
          <p:cNvPr id="7" name="Shape 4"/>
          <p:cNvSpPr/>
          <p:nvPr/>
        </p:nvSpPr>
        <p:spPr>
          <a:xfrm>
            <a:off x="548640" y="3429000"/>
            <a:ext cx="11064240" cy="1325880"/>
          </a:xfrm>
          <a:prstGeom prst="roundRect">
            <a:avLst>
              <a:gd name="adj" fmla="val 5517"/>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8" name="Image 1" descr="/home/claude/aadfa_deck_v2/icons/cpu.png">    </p:cNvPr>
          <p:cNvPicPr>
            <a:picLocks noChangeAspect="1"/>
          </p:cNvPicPr>
          <p:nvPr/>
        </p:nvPicPr>
        <p:blipFill>
          <a:blip r:embed="rId2"/>
          <a:stretch>
            <a:fillRect/>
          </a:stretch>
        </p:blipFill>
        <p:spPr>
          <a:xfrm>
            <a:off x="868680" y="3817620"/>
            <a:ext cx="548640" cy="548640"/>
          </a:xfrm>
          <a:prstGeom prst="rect">
            <a:avLst/>
          </a:prstGeom>
        </p:spPr>
      </p:pic>
      <p:sp>
        <p:nvSpPr>
          <p:cNvPr id="9" name="Text 5"/>
          <p:cNvSpPr/>
          <p:nvPr/>
        </p:nvSpPr>
        <p:spPr>
          <a:xfrm>
            <a:off x="1874520" y="3566160"/>
            <a:ext cx="9509760" cy="1051560"/>
          </a:xfrm>
          <a:prstGeom prst="rect">
            <a:avLst/>
          </a:prstGeom>
          <a:noFill/>
          <a:ln/>
        </p:spPr>
        <p:txBody>
          <a:bodyPr wrap="square" rtlCol="0" anchor="ctr"/>
          <a:lstStyle/>
          <a:p>
            <a:pPr indent="0" marL="0">
              <a:lnSpc>
                <a:spcPct val="120000"/>
              </a:lnSpc>
              <a:buNone/>
            </a:pPr>
            <a:r>
              <a:rPr lang="en-US" sz="1350" dirty="0">
                <a:solidFill>
                  <a:srgbClr val="F1F5F9"/>
                </a:solidFill>
                <a:latin typeface="Arial" pitchFamily="34" charset="0"/>
                <a:ea typeface="Arial" pitchFamily="34" charset="-122"/>
                <a:cs typeface="Arial" pitchFamily="34" charset="-120"/>
              </a:rPr>
              <a:t>Running everything locally meant treating compute as a real constraint, not an afterthought — memory and performance tuning on a single VPS was as much of the work as the AI logic itself.</a:t>
            </a:r>
            <a:endParaRPr lang="en-US" sz="1350" dirty="0"/>
          </a:p>
        </p:txBody>
      </p:sp>
      <p:sp>
        <p:nvSpPr>
          <p:cNvPr id="10" name="Shape 6"/>
          <p:cNvSpPr/>
          <p:nvPr/>
        </p:nvSpPr>
        <p:spPr>
          <a:xfrm>
            <a:off x="548640" y="4937760"/>
            <a:ext cx="11064240" cy="1325880"/>
          </a:xfrm>
          <a:prstGeom prst="roundRect">
            <a:avLst>
              <a:gd name="adj" fmla="val 5517"/>
            </a:avLst>
          </a:prstGeom>
          <a:solidFill>
            <a:srgbClr val="141A24"/>
          </a:solidFill>
          <a:ln w="12700">
            <a:solidFill>
              <a:srgbClr val="232B3A"/>
            </a:solidFill>
            <a:prstDash val="solid"/>
          </a:ln>
          <a:effectLst>
            <a:outerShdw sx="100000" sy="100000" kx="0" ky="0" algn="bl" rotWithShape="0" blurRad="101600" dist="38100" dir="5400000">
              <a:srgbClr val="000000">
                <a:alpha val="35000"/>
              </a:srgbClr>
            </a:outerShdw>
          </a:effectLst>
        </p:spPr>
      </p:sp>
      <p:pic>
        <p:nvPicPr>
          <p:cNvPr id="11" name="Image 2" descr="/home/claude/aadfa_deck_v2/icons/handshake.png">    </p:cNvPr>
          <p:cNvPicPr>
            <a:picLocks noChangeAspect="1"/>
          </p:cNvPicPr>
          <p:nvPr/>
        </p:nvPicPr>
        <p:blipFill>
          <a:blip r:embed="rId3"/>
          <a:stretch>
            <a:fillRect/>
          </a:stretch>
        </p:blipFill>
        <p:spPr>
          <a:xfrm>
            <a:off x="868680" y="5326380"/>
            <a:ext cx="548640" cy="548640"/>
          </a:xfrm>
          <a:prstGeom prst="rect">
            <a:avLst/>
          </a:prstGeom>
        </p:spPr>
      </p:pic>
      <p:sp>
        <p:nvSpPr>
          <p:cNvPr id="12" name="Text 7"/>
          <p:cNvSpPr/>
          <p:nvPr/>
        </p:nvSpPr>
        <p:spPr>
          <a:xfrm>
            <a:off x="1874520" y="5074920"/>
            <a:ext cx="9509760" cy="1051560"/>
          </a:xfrm>
          <a:prstGeom prst="rect">
            <a:avLst/>
          </a:prstGeom>
          <a:noFill/>
          <a:ln/>
        </p:spPr>
        <p:txBody>
          <a:bodyPr wrap="square" rtlCol="0" anchor="ctr"/>
          <a:lstStyle/>
          <a:p>
            <a:pPr indent="0" marL="0">
              <a:lnSpc>
                <a:spcPct val="120000"/>
              </a:lnSpc>
              <a:buNone/>
            </a:pPr>
            <a:r>
              <a:rPr lang="en-US" sz="1350" dirty="0">
                <a:solidFill>
                  <a:srgbClr val="F1F5F9"/>
                </a:solidFill>
                <a:latin typeface="Arial" pitchFamily="34" charset="0"/>
                <a:ea typeface="Arial" pitchFamily="34" charset="-122"/>
                <a:cs typeface="Arial" pitchFamily="34" charset="-120"/>
              </a:rPr>
              <a:t>Building for a real client with a hard security requirement changed how we approached every decision, from architecture to error handling.</a:t>
            </a:r>
            <a:endParaRPr lang="en-US" sz="1350" dirty="0"/>
          </a:p>
        </p:txBody>
      </p:sp>
      <p:sp>
        <p:nvSpPr>
          <p:cNvPr id="13" name="Text 8"/>
          <p:cNvSpPr/>
          <p:nvPr/>
        </p:nvSpPr>
        <p:spPr>
          <a:xfrm>
            <a:off x="11548872" y="6473952"/>
            <a:ext cx="457200" cy="274320"/>
          </a:xfrm>
          <a:prstGeom prst="rect">
            <a:avLst/>
          </a:prstGeom>
          <a:noFill/>
          <a:ln/>
        </p:spPr>
        <p:txBody>
          <a:bodyPr wrap="square" rtlCol="0" anchor="ctr"/>
          <a:lstStyle/>
          <a:p>
            <a:pPr algn="r" indent="0" marL="0">
              <a:buNone/>
            </a:pPr>
            <a:r>
              <a:rPr lang="en-US" sz="900" dirty="0">
                <a:solidFill>
                  <a:srgbClr val="5B6576"/>
                </a:solidFill>
                <a:latin typeface="Consolas" pitchFamily="34" charset="0"/>
                <a:ea typeface="Consolas" pitchFamily="34" charset="-122"/>
                <a:cs typeface="Consola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E14"/>
        </a:solidFill>
      </p:bgPr>
    </p:bg>
    <p:spTree>
      <p:nvGrpSpPr>
        <p:cNvPr id="1" name=""/>
        <p:cNvGrpSpPr/>
        <p:nvPr/>
      </p:nvGrpSpPr>
      <p:grpSpPr>
        <a:xfrm>
          <a:off x="0" y="0"/>
          <a:ext cx="0" cy="0"/>
          <a:chOff x="0" y="0"/>
          <a:chExt cx="0" cy="0"/>
        </a:xfrm>
      </p:grpSpPr>
      <p:pic>
        <p:nvPicPr>
          <p:cNvPr id="2" name="Image 0" descr="/home/claude/aadfa_deck_v2/icons/fingerprint.png">    </p:cNvPr>
          <p:cNvPicPr>
            <a:picLocks noChangeAspect="1"/>
          </p:cNvPicPr>
          <p:nvPr/>
        </p:nvPicPr>
        <p:blipFill>
          <a:blip r:embed="rId1"/>
          <a:stretch>
            <a:fillRect/>
          </a:stretch>
        </p:blipFill>
        <p:spPr>
          <a:xfrm>
            <a:off x="5728716" y="822960"/>
            <a:ext cx="731520" cy="731520"/>
          </a:xfrm>
          <a:prstGeom prst="rect">
            <a:avLst/>
          </a:prstGeom>
        </p:spPr>
      </p:pic>
      <p:sp>
        <p:nvSpPr>
          <p:cNvPr id="3" name="Text 0"/>
          <p:cNvSpPr/>
          <p:nvPr/>
        </p:nvSpPr>
        <p:spPr>
          <a:xfrm>
            <a:off x="0" y="1691640"/>
            <a:ext cx="12188952" cy="914400"/>
          </a:xfrm>
          <a:prstGeom prst="rect">
            <a:avLst/>
          </a:prstGeom>
          <a:noFill/>
          <a:ln/>
        </p:spPr>
        <p:txBody>
          <a:bodyPr wrap="square" rtlCol="0" anchor="ctr"/>
          <a:lstStyle/>
          <a:p>
            <a:pPr algn="ctr" indent="0" marL="0">
              <a:buNone/>
            </a:pPr>
            <a:r>
              <a:rPr lang="en-US" sz="4000" b="1" dirty="0">
                <a:solidFill>
                  <a:srgbClr val="F1F5F9"/>
                </a:solidFill>
                <a:latin typeface="Arial" pitchFamily="34" charset="0"/>
                <a:ea typeface="Arial" pitchFamily="34" charset="-122"/>
                <a:cs typeface="Arial" pitchFamily="34" charset="-120"/>
              </a:rPr>
              <a:t>Thank You</a:t>
            </a:r>
            <a:endParaRPr lang="en-US" sz="4000" dirty="0"/>
          </a:p>
        </p:txBody>
      </p:sp>
      <p:sp>
        <p:nvSpPr>
          <p:cNvPr id="4" name="Text 1"/>
          <p:cNvSpPr/>
          <p:nvPr/>
        </p:nvSpPr>
        <p:spPr>
          <a:xfrm>
            <a:off x="0" y="2514600"/>
            <a:ext cx="12188952" cy="4572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We are happy to answer any questions.</a:t>
            </a:r>
            <a:endParaRPr lang="en-US" sz="1600" dirty="0"/>
          </a:p>
        </p:txBody>
      </p:sp>
      <p:sp>
        <p:nvSpPr>
          <p:cNvPr id="5" name="Text 2"/>
          <p:cNvSpPr/>
          <p:nvPr/>
        </p:nvSpPr>
        <p:spPr>
          <a:xfrm>
            <a:off x="548640" y="4160520"/>
            <a:ext cx="11064240" cy="548640"/>
          </a:xfrm>
          <a:prstGeom prst="rect">
            <a:avLst/>
          </a:prstGeom>
          <a:noFill/>
          <a:ln/>
        </p:spPr>
        <p:txBody>
          <a:bodyPr wrap="square" rtlCol="0" anchor="ctr"/>
          <a:lstStyle/>
          <a:p>
            <a:pPr algn="ctr" indent="0" marL="0">
              <a:buNone/>
            </a:pPr>
            <a:r>
              <a:rPr lang="en-US" sz="1200" dirty="0">
                <a:solidFill>
                  <a:srgbClr val="F1F5F9"/>
                </a:solidFill>
                <a:latin typeface="Arial" pitchFamily="34" charset="0"/>
                <a:ea typeface="Arial" pitchFamily="34" charset="-122"/>
                <a:cs typeface="Arial" pitchFamily="34" charset="-120"/>
              </a:rPr>
              <a:t>Gabrielle Briliant Lintong   ·   Monique Emilia Tumewu   ·   Blessya Ginza Stevani Mondoringin   ·   Rafa Basia Hanif   ·   Muhammad Naufal Hadi Mulyana</a:t>
            </a:r>
            <a:endParaRPr lang="en-US" sz="1200" dirty="0"/>
          </a:p>
        </p:txBody>
      </p:sp>
      <p:sp>
        <p:nvSpPr>
          <p:cNvPr id="6" name="Shape 3"/>
          <p:cNvSpPr/>
          <p:nvPr/>
        </p:nvSpPr>
        <p:spPr>
          <a:xfrm>
            <a:off x="4997196" y="4023360"/>
            <a:ext cx="2194560" cy="0"/>
          </a:xfrm>
          <a:prstGeom prst="line">
            <a:avLst/>
          </a:prstGeom>
          <a:noFill/>
          <a:ln w="12700">
            <a:solidFill>
              <a:srgbClr val="232B3A"/>
            </a:solidFill>
            <a:prstDash val="solid"/>
          </a:ln>
        </p:spPr>
      </p:sp>
      <p:pic>
        <p:nvPicPr>
          <p:cNvPr id="7" name="Image 1" descr="/home/claude/aadfa_deck_v2/icons/github.png">    </p:cNvPr>
          <p:cNvPicPr>
            <a:picLocks noChangeAspect="1"/>
          </p:cNvPicPr>
          <p:nvPr/>
        </p:nvPicPr>
        <p:blipFill>
          <a:blip r:embed="rId2"/>
          <a:stretch>
            <a:fillRect/>
          </a:stretch>
        </p:blipFill>
        <p:spPr>
          <a:xfrm>
            <a:off x="4174236" y="5029200"/>
            <a:ext cx="292608" cy="292608"/>
          </a:xfrm>
          <a:prstGeom prst="rect">
            <a:avLst/>
          </a:prstGeom>
        </p:spPr>
      </p:pic>
      <p:sp>
        <p:nvSpPr>
          <p:cNvPr id="8" name="Text 4"/>
          <p:cNvSpPr/>
          <p:nvPr/>
        </p:nvSpPr>
        <p:spPr>
          <a:xfrm>
            <a:off x="4539996" y="5029200"/>
            <a:ext cx="3200400" cy="292608"/>
          </a:xfrm>
          <a:prstGeom prst="rect">
            <a:avLst/>
          </a:prstGeom>
          <a:noFill/>
          <a:ln/>
        </p:spPr>
        <p:txBody>
          <a:bodyPr wrap="square" rtlCol="0" anchor="ctr"/>
          <a:lstStyle/>
          <a:p>
            <a:pPr indent="0" marL="0">
              <a:buNone/>
            </a:pPr>
            <a:r>
              <a:rPr lang="en-US" sz="1050" dirty="0">
                <a:solidFill>
                  <a:srgbClr val="94A3B8"/>
                </a:solidFill>
                <a:latin typeface="Consolas" pitchFamily="34" charset="0"/>
                <a:ea typeface="Consolas" pitchFamily="34" charset="-122"/>
                <a:cs typeface="Consolas" pitchFamily="34" charset="-120"/>
              </a:rPr>
              <a:t>github.com/bieee123/AI-Forensics-Assistant</a:t>
            </a:r>
            <a:endParaRPr lang="en-US" sz="1050" dirty="0"/>
          </a:p>
        </p:txBody>
      </p:sp>
      <p:sp>
        <p:nvSpPr>
          <p:cNvPr id="9" name="Text 5"/>
          <p:cNvSpPr/>
          <p:nvPr/>
        </p:nvSpPr>
        <p:spPr>
          <a:xfrm>
            <a:off x="0" y="6217920"/>
            <a:ext cx="12188952" cy="320040"/>
          </a:xfrm>
          <a:prstGeom prst="rect">
            <a:avLst/>
          </a:prstGeom>
          <a:noFill/>
          <a:ln/>
        </p:spPr>
        <p:txBody>
          <a:bodyPr wrap="square" rtlCol="0" anchor="ctr"/>
          <a:lstStyle/>
          <a:p>
            <a:pPr algn="ctr" indent="0" marL="0">
              <a:buNone/>
            </a:pPr>
            <a:r>
              <a:rPr lang="en-US" sz="1000" dirty="0">
                <a:solidFill>
                  <a:srgbClr val="5B6576"/>
                </a:solidFill>
                <a:latin typeface="Arial" pitchFamily="34" charset="0"/>
                <a:ea typeface="Arial" pitchFamily="34" charset="-122"/>
                <a:cs typeface="Arial" pitchFamily="34" charset="-120"/>
              </a:rPr>
              <a:t>Team Eight · President University × LTI (PT Teknologi Nasional Indonesia Siber)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2026-07-28T01:34:20Z</dcterms:created>
  <dcterms:modified xsi:type="dcterms:W3CDTF">2026-07-28T01:34:20Z</dcterms:modified>
</cp:coreProperties>
</file>